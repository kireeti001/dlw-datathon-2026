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878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model: we rank transactions by fraud risk so a bank can send the riskiest ~1% to a step-up check. Each number on this slide is backed later: PR-AUC and top-100 precision on slide 9, exact replay on slide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meaningless: the trivial model scores 98.24% and catches nothing. So the target is ranking quality, PR-AUC. A random ranking has PR-AUC equal to the fraud rate, 0.0177: that is the floor. Saito &amp; Rehmsmeier (2015, PLOS ONE) show PR curves are more informative than ROC under heavy imbalance. We submit probabilities, not hard labels.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pipeline on one slide. The output is a probability-like score; the business decides the cut-off. The four principles are how we worked. Replay detail: the exact uploaded notebook and model.pkl (sha256 c459d365…) were re-run in a clean kernel on shuffled, ID-free test input; all 12,000 predictions matched the CSV the leaderboard scored (hash 7b3000d1…) with max difference 0.0. An earlier Linux Python 3.12 replay matched within 2.2e-16. Unseen/missing categories, single rows and batch size all give valid probabilities. Only extra dependency: catboost 1.2.10.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Checks: no duplicate rows, IDs unique and excluded from every model, values in valid ranges. Per-column missingness is small in train (0.5–0.8%), but rows with any gap rise from 4.88% to 13.86% in test. Incomplete training rows are not meaningfully riskier (20 frauds in 975 rows), so we keep them. KNN and MICE imputation were tested and lost (slide 7). The big structural gap: no customer ID or timestamp, so no per-customer history. That is what limits recall later (slide 11).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a new device is the strongest single signal, 7.5% vs 1.21% (135/1,800 vs 218/18,076). It's an association, not proof of account takeover. Finding 2, the grid: each factor alone roughly doubles to quadruples the risk. Finding 3, amount: inside the risky corner, every amount band is high-risk: under $50 17.0%, $50–200 11.4%, $200–1,000 16.9%, $1,000+ 60.7% (17/28, small cell), against 0.6–2.8% for known device + older account. Hence the amount crosses. Multiplying them, which is what additive log-odds means, predicts 8.7% in the corner; we observe 18.4% on 375 rows. That super-multiplicative corner is the evidence for the interaction crosses. Wording to use on stage: main effects combine roughly multiplicatively, which is why LR is strong, and the crosses fix the corners where they don't. Older notes quoted 9–34% here; use the recomputed numbers in these notes.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smaller signals. Bursts: 0–2 transactions in the last hour sit at the base rate; from 3 upwards risk climbs to 23% at five; burst on a busy day is 24.7%. Basis for the new device × last-hour cross; 1h/24h velocity ratios gave +0.0007 (noise). Night: U-shaped curve, each hour ~800 rows; one night flag captures it, richer encodings lost. Merchant: luxury, cash transfer and electronics 4–5% vs under 1% for grocery and retail. But a big luxury/travel purchase (38/875) is less suspicious than other big purchases (75/1125). That became the final model's context residuals: how unusual this amount and last-hour count are versus legitimate-only median models, cross-fitted. Their local gain was tiny (+0.00016 on confirmation, 4/5 folds) but this release produced our best public score 0.18900. Country: other countries 1.47–4.05% vs SG 1.31%, hence the non-SG flag.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changes one thing in the same LR pipeline, scored on identical splits. Crosses won 3 of 3 repeats and were confirmed on splits never used to design them. Clusters also helped but didn't stack with crosses, so we kept the simpler, more interpretable one. Missing-data rows: KNN and MICE lost, so median imputation stayed. Caveat we volunteer: the crosses were suggested by segment tables on the full training set, so some selection optimism remains.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families: on our earlier benchmark (identical 5-fold splits, before the final crosses/residuals), standalone LR beat generative LDA, XGBoost (log loss and pairwise), TabM, LightGBM, EBM, TabICL and CatBoost; RBF SVM, TabPFN, AutoGluon, class weighting and resampling were also tried and didn't beat it. Features: log amount/24h spend/account age; amount ÷ (24h spend ÷ 24h count); night (22–04) and non-SG flags; five crosses; two cross-fitted context residuals; in-fold median + explicit missing level. Each component's standalone PR-AUC is on its card; the blend beats the best component. Most of the lift is LR. CatBoost adds non-linear thresholds. TAN, a small Bayesian network, handles missing inputs by summing over them instead of imputing, which matters because test has three times more gaps. The weights nest: 0.7 LR / 0.3 CatBoost (#1486), then 10% TAN (#2510): 0.9 × 0.7 = 0.63, 0.9 × 0.3 = 0.27. Honest note if asked: TAN passed its first screen (+0.0025) but only weakly confirmed (+0.0003, 2/5 folds); it was kept as an approved exploratory addition.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stratified 5-fold, so each fold keeps the 1.77% fraud share; imputers, encoders, CatBoost and the legitimate-only median models are refit inside every training fold; repeated over 5 split seeds (25 folds); adoption rules written before results. Per-fold PR-AUC on the reported split ranges 0.160–0.326 (~70 frauds per fold), which is why we never picked on one split or the leaderboard. Caveat: the same 353 labels were reused across many experiments, so some selection optimism remains. Left: precision-recall curve of the final blend; the dashed line is a random ranking. Right: what an analyst sees reviewing from the top. 100 alerts (0.5% of traffic) catch 61 frauds, 35× the base rate. Going to 1,000 alerts lifts recall to 40% but precision falls to 14%. Every row here was scored by a model that never trained on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two policies. The best-F1 cut-off flags 188 transactions and catches 83 of 353 frauds. Dropping to 0.05 catches 137 but costs 788 false alarms. Which is right depends on what an alert triggers. Industry practice layers an ML score with step-up authentication (Databricks; 3-D Secure studies). Cut-offs picked on validation predictions are optimistic, and the test population is shifted, so the flag rate rises on test.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middle column with the right one: missed frauds are nearly indistinguishable from legitimate transactions on every field we have. Same device mix, similar account age, same burst counts. That is why recall levels off around 40% at 1,000 alerts. An earlier audit on #1486 across three split schemes found the same: 185 of 202 persistent misses on known devices, and no subgroup with ≥100 rows and ≥20 frauds whose observed rate fell outside the model's prediction. So we did not add ad-hoc boosts or relabel 'hard' 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detail: 556 test rows exceed train's 99th-percentile amount ($3,732), mostly luxury/travel/electronics in AU, SG, JP, MY on accounts with median age 2,446 days and 1.4% new devices. Train has the same profile at an ordinary 2.5% fraud rate (5/200); our model puts 0 of its top 100 test alerts there. Domain-weighted LR (#2541) scored 0.18721; even an oracle segment label-shift correction gained at most +0.008 under heavy simulated shifts. Dead ends: in IEEE-CIS-style fraud contests winners rebuilt hidden customer IDs; a true identity key would push conditional fraud into tens of percent, we see 2–5%. A 120-trial Optuna search gained +0.0017, under its pre-set bar. Each check ran once against a protocol written beforehand. Scatter: each dot is a submission we scored publicly, placed by its local cross-validated PR-AUC and its public score. Spearman correlation is −0.06. The clearest case is #964: highest local score, lowest public score. On CV, #2756, #2510 and #1486 are statistically indistinguishable (differences ≤ 0.0009, mixed fold wins); #2756 was chosen because it was tied-best on CV, had the best public score and a fully replay-verified package. CV ≈ 0.24 versus public ≈ 0.19 is a gap we couldn't close, and we say so.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story here. The biggest lever in the fraud literature, customer-level history (Whitrow 2009; Bahnsen 2016; Wedge 2017), is exactly what this dataset lacks, and it matches our error analysis: the frauds we miss only look odd relative to that customer's usual behaviour. Don't claim a performance ceiling: none of our ideas beat ~0.24 CV, which is not the same as none can.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takeaways and invite questions. Where to point: Why PR-AUC? slide 2. Why is LR best? slides 5 and 8. Imbalance? natural prior; weighting and resampling tested and lost (8). Missing data? slides 4 and 7. Overfitting? slide 9. Public lower than CV? slide 12. What do you miss? slide 11. Real-world use? slide 10. Reproducibility? slide 3. Do not claim: that the public score predicts the final ranking; that features cause fraud; a fixed performance ceiling.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2"/>
            <a:ext cx="10566440" cy="419100"/>
          </a:xfrm>
          <a:prstGeom prst="rect">
            <a:avLst/>
          </a:prstGeom>
          <a:noFill/>
          <a:ln/>
        </p:spPr>
        <p:txBody>
          <a:bodyPr wrap="square" lIns="0" tIns="0" rIns="0" bIns="0" rtlCol="0" anchor="t"/>
          <a:lstStyle>
            <a:lvl1pPr marL="0" indent="0" algn="l">
              <a:lnSpc>
                <a:spcPct val="115000"/>
              </a:lnSpc>
              <a:buNone/>
              <a:defRPr lang="en-US" sz="3000" dirty="0">
                <a:solidFill>
                  <a:srgbClr val="17212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0" y="1826242"/>
            <a:ext cx="10566420" cy="4218958"/>
          </a:xfrm>
          <a:prstGeom prst="rect">
            <a:avLst/>
          </a:prstGeom>
          <a:noFill/>
          <a:ln/>
        </p:spPr>
        <p:txBody>
          <a:bodyPr wrap="square" lIns="0" tIns="0" rIns="0" bIns="0" rtlCol="0" anchor="t"/>
          <a:lstStyle>
            <a:lvl1pPr marL="0" indent="0" algn="l">
              <a:lnSpc>
                <a:spcPct val="140000"/>
              </a:lnSpc>
              <a:buNone/>
              <a:defRPr lang="en-US" sz="1600" dirty="0">
                <a:solidFill>
                  <a:srgbClr val="17212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2"/>
            <a:ext cx="10566440" cy="419100"/>
          </a:xfrm>
          <a:prstGeom prst="rect">
            <a:avLst/>
          </a:prstGeom>
          <a:noFill/>
          <a:ln/>
        </p:spPr>
        <p:txBody>
          <a:bodyPr wrap="square" lIns="0" tIns="0" rIns="0" bIns="0" rtlCol="0" anchor="t"/>
          <a:lstStyle>
            <a:lvl1pPr marL="0" indent="0" algn="l">
              <a:lnSpc>
                <a:spcPct val="115000"/>
              </a:lnSpc>
              <a:buNone/>
              <a:defRPr lang="en-US" sz="3000" dirty="0">
                <a:solidFill>
                  <a:srgbClr val="17212C"/>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0" y="1826242"/>
            <a:ext cx="10566420" cy="4218958"/>
          </a:xfrm>
          <a:prstGeom prst="rect">
            <a:avLst/>
          </a:prstGeom>
          <a:noFill/>
          <a:ln/>
        </p:spPr>
        <p:txBody>
          <a:bodyPr wrap="square" lIns="0" tIns="0" rIns="0" bIns="0" rtlCol="0" anchor="t"/>
          <a:lstStyle>
            <a:lvl1pPr marL="0" indent="0" algn="l">
              <a:lnSpc>
                <a:spcPct val="140000"/>
              </a:lnSpc>
              <a:buNone/>
              <a:defRPr lang="en-US" sz="1600" dirty="0">
                <a:solidFill>
                  <a:srgbClr val="17212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D"/>
        </a:solidFill>
        <a:effectLst/>
      </p:bgPr>
    </p:bg>
    <p:spTree>
      <p:nvGrpSpPr>
        <p:cNvPr id="1" name=""/>
        <p:cNvGrpSpPr/>
        <p:nvPr/>
      </p:nvGrpSpPr>
      <p:grpSpPr>
        <a:xfrm>
          <a:off x="0" y="0"/>
          <a:ext cx="0" cy="0"/>
          <a:chOff x="0" y="0"/>
          <a:chExt cx="0" cy="0"/>
        </a:xfrm>
      </p:grpSpPr>
      <p:sp>
        <p:nvSpPr>
          <p:cNvPr id="2" name="Text 0"/>
          <p:cNvSpPr/>
          <p:nvPr/>
        </p:nvSpPr>
        <p:spPr>
          <a:xfrm>
            <a:off x="812780" y="812780"/>
            <a:ext cx="10883434" cy="25650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08A4B"/>
                </a:solidFill>
                <a:latin typeface="IBM Plex Mono" pitchFamily="49" charset="0"/>
                <a:ea typeface="IBM Plex Mono" pitchFamily="49" charset="-122"/>
                <a:cs typeface="IBM Plex Mono" pitchFamily="49" charset="-120"/>
              </a:rPr>
              <a:t>DLW DATATHON 2026 · TRACK 2 · FINALS</a:t>
            </a:r>
            <a:endParaRPr lang="en-US" sz="1300" dirty="0"/>
          </a:p>
        </p:txBody>
      </p:sp>
      <p:sp>
        <p:nvSpPr>
          <p:cNvPr id="3" name="Text 1"/>
          <p:cNvSpPr>
            <a:spLocks noGrp="1"/>
          </p:cNvSpPr>
          <p:nvPr>
            <p:ph type="title"/>
          </p:nvPr>
        </p:nvSpPr>
        <p:spPr>
          <a:xfrm>
            <a:off x="812780" y="1221641"/>
            <a:ext cx="10883434" cy="977900"/>
          </a:xfrm>
          <a:prstGeom prst="rect">
            <a:avLst/>
          </a:prstGeom>
          <a:noFill/>
          <a:ln/>
        </p:spPr>
        <p:txBody>
          <a:bodyPr wrap="square" lIns="0" tIns="0" rIns="0" bIns="0" rtlCol="0" anchor="t">
            <a:normAutofit/>
          </a:bodyPr>
          <a:lstStyle/>
          <a:p>
            <a:pPr marL="0" indent="0" algn="l">
              <a:lnSpc>
                <a:spcPts val="7500"/>
              </a:lnSpc>
              <a:buNone/>
            </a:pPr>
            <a:r>
              <a:rPr lang="en-US" sz="7500" b="1" i="0" dirty="0">
                <a:solidFill>
                  <a:srgbClr val="EFEBE1"/>
                </a:solidFill>
                <a:latin typeface="Source Serif 4" pitchFamily="18" charset="0"/>
                <a:ea typeface="Source Serif 4" pitchFamily="18" charset="-122"/>
                <a:cs typeface="Source Serif 4" pitchFamily="18" charset="-120"/>
              </a:rPr>
              <a:t>TrustGuard</a:t>
            </a:r>
            <a:endParaRPr lang="en-US" sz="7500" dirty="0"/>
          </a:p>
        </p:txBody>
      </p:sp>
      <p:sp>
        <p:nvSpPr>
          <p:cNvPr id="4" name="Text 2"/>
          <p:cNvSpPr/>
          <p:nvPr/>
        </p:nvSpPr>
        <p:spPr>
          <a:xfrm>
            <a:off x="812780" y="2351901"/>
            <a:ext cx="10667977" cy="421640"/>
          </a:xfrm>
          <a:prstGeom prst="rect">
            <a:avLst/>
          </a:prstGeom>
          <a:noFill/>
          <a:ln/>
        </p:spPr>
        <p:txBody>
          <a:bodyPr wrap="square" lIns="0" tIns="0" rIns="0" bIns="0" rtlCol="0" anchor="t">
            <a:normAutofit/>
          </a:bodyPr>
          <a:lstStyle/>
          <a:p>
            <a:pPr marL="0" indent="0" algn="l">
              <a:lnSpc>
                <a:spcPts val="3120"/>
              </a:lnSpc>
              <a:buNone/>
            </a:pPr>
            <a:r>
              <a:rPr lang="en-US" sz="2600" dirty="0">
                <a:solidFill>
                  <a:srgbClr val="EFEBE1"/>
                </a:solidFill>
                <a:latin typeface="Source Serif 4" pitchFamily="18" charset="0"/>
                <a:ea typeface="Source Serif 4" pitchFamily="18" charset="-122"/>
                <a:cs typeface="Source Serif 4" pitchFamily="18" charset="-120"/>
              </a:rPr>
              <a:t>Ranking fraud risk when 98% accuracy catches nothing</a:t>
            </a:r>
            <a:endParaRPr lang="en-US" sz="2600" dirty="0"/>
          </a:p>
        </p:txBody>
      </p:sp>
      <p:sp>
        <p:nvSpPr>
          <p:cNvPr id="5" name="Text 3"/>
          <p:cNvSpPr/>
          <p:nvPr/>
        </p:nvSpPr>
        <p:spPr>
          <a:xfrm>
            <a:off x="812780" y="2925901"/>
            <a:ext cx="10883434"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3CC"/>
                </a:solidFill>
                <a:latin typeface="IBM Plex Sans" pitchFamily="34" charset="0"/>
                <a:ea typeface="IBM Plex Sans" pitchFamily="34" charset="-122"/>
                <a:cs typeface="IBM Plex Sans" pitchFamily="34" charset="-120"/>
              </a:rPr>
              <a:t>Team AI of Spades · final entry #2756</a:t>
            </a:r>
            <a:endParaRPr lang="en-US" sz="1600" dirty="0"/>
          </a:p>
        </p:txBody>
      </p:sp>
      <p:sp>
        <p:nvSpPr>
          <p:cNvPr id="6" name="Shape 4"/>
          <p:cNvSpPr/>
          <p:nvPr/>
        </p:nvSpPr>
        <p:spPr>
          <a:xfrm>
            <a:off x="815955" y="4562495"/>
            <a:ext cx="3380324" cy="1479550"/>
          </a:xfrm>
          <a:prstGeom prst="roundRect">
            <a:avLst>
              <a:gd name="adj" fmla="val 6652"/>
            </a:avLst>
          </a:prstGeom>
          <a:solidFill>
            <a:srgbClr val="1E2C3B"/>
          </a:solidFill>
          <a:ln w="6350">
            <a:solidFill>
              <a:srgbClr val="33465A"/>
            </a:solidFill>
            <a:prstDash val="solid"/>
          </a:ln>
        </p:spPr>
        <p:txBody>
          <a:bodyPr/>
          <a:lstStyle/>
          <a:p>
            <a:endParaRPr lang="en-SG"/>
          </a:p>
        </p:txBody>
      </p:sp>
      <p:sp>
        <p:nvSpPr>
          <p:cNvPr id="7" name="Text 5"/>
          <p:cNvSpPr/>
          <p:nvPr/>
        </p:nvSpPr>
        <p:spPr>
          <a:xfrm>
            <a:off x="1019770" y="4766310"/>
            <a:ext cx="3061874" cy="558800"/>
          </a:xfrm>
          <a:prstGeom prst="rect">
            <a:avLst/>
          </a:prstGeom>
          <a:noFill/>
          <a:ln/>
        </p:spPr>
        <p:txBody>
          <a:bodyPr wrap="square" lIns="0" tIns="0" rIns="0" bIns="0" rtlCol="0" anchor="t">
            <a:normAutofit/>
          </a:bodyPr>
          <a:lstStyle/>
          <a:p>
            <a:pPr marL="0" indent="0" algn="l">
              <a:lnSpc>
                <a:spcPts val="4200"/>
              </a:lnSpc>
              <a:buNone/>
            </a:pPr>
            <a:r>
              <a:rPr lang="en-US" sz="4200" b="1" dirty="0">
                <a:solidFill>
                  <a:srgbClr val="F08A4B"/>
                </a:solidFill>
                <a:latin typeface="Source Serif 4" pitchFamily="18" charset="0"/>
                <a:ea typeface="Source Serif 4" pitchFamily="18" charset="-122"/>
                <a:cs typeface="Source Serif 4" pitchFamily="18" charset="-120"/>
              </a:rPr>
              <a:t>0.2365</a:t>
            </a:r>
            <a:endParaRPr lang="en-US" sz="4200" dirty="0"/>
          </a:p>
        </p:txBody>
      </p:sp>
      <p:sp>
        <p:nvSpPr>
          <p:cNvPr id="8" name="Text 6"/>
          <p:cNvSpPr/>
          <p:nvPr/>
        </p:nvSpPr>
        <p:spPr>
          <a:xfrm>
            <a:off x="1019770" y="5375910"/>
            <a:ext cx="3061874" cy="4877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9C3CC"/>
                </a:solidFill>
                <a:latin typeface="IBM Plex Sans" pitchFamily="34" charset="0"/>
                <a:ea typeface="IBM Plex Sans" pitchFamily="34" charset="-122"/>
                <a:cs typeface="IBM Plex Sans" pitchFamily="34" charset="-120"/>
              </a:rPr>
              <a:t>cross-validated PR-AUC (random ranking: 0.0177)</a:t>
            </a:r>
            <a:endParaRPr lang="en-US" sz="1400" dirty="0"/>
          </a:p>
        </p:txBody>
      </p:sp>
      <p:sp>
        <p:nvSpPr>
          <p:cNvPr id="9" name="Shape 7"/>
          <p:cNvSpPr/>
          <p:nvPr/>
        </p:nvSpPr>
        <p:spPr>
          <a:xfrm>
            <a:off x="4405809" y="4562495"/>
            <a:ext cx="3380383" cy="1479550"/>
          </a:xfrm>
          <a:prstGeom prst="roundRect">
            <a:avLst>
              <a:gd name="adj" fmla="val 6652"/>
            </a:avLst>
          </a:prstGeom>
          <a:solidFill>
            <a:srgbClr val="1E2C3B"/>
          </a:solidFill>
          <a:ln w="6350">
            <a:solidFill>
              <a:srgbClr val="33465A"/>
            </a:solidFill>
            <a:prstDash val="solid"/>
          </a:ln>
        </p:spPr>
        <p:txBody>
          <a:bodyPr/>
          <a:lstStyle/>
          <a:p>
            <a:endParaRPr lang="en-SG"/>
          </a:p>
        </p:txBody>
      </p:sp>
      <p:sp>
        <p:nvSpPr>
          <p:cNvPr id="10" name="Text 8"/>
          <p:cNvSpPr/>
          <p:nvPr/>
        </p:nvSpPr>
        <p:spPr>
          <a:xfrm>
            <a:off x="4609624" y="4766310"/>
            <a:ext cx="3061935" cy="558800"/>
          </a:xfrm>
          <a:prstGeom prst="rect">
            <a:avLst/>
          </a:prstGeom>
          <a:noFill/>
          <a:ln/>
        </p:spPr>
        <p:txBody>
          <a:bodyPr wrap="square" lIns="0" tIns="0" rIns="0" bIns="0" rtlCol="0" anchor="t">
            <a:normAutofit/>
          </a:bodyPr>
          <a:lstStyle/>
          <a:p>
            <a:pPr marL="0" indent="0" algn="l">
              <a:lnSpc>
                <a:spcPts val="4200"/>
              </a:lnSpc>
              <a:buNone/>
            </a:pPr>
            <a:r>
              <a:rPr lang="en-US" sz="4200" b="1" dirty="0">
                <a:solidFill>
                  <a:srgbClr val="F08A4B"/>
                </a:solidFill>
                <a:latin typeface="Source Serif 4" pitchFamily="18" charset="0"/>
                <a:ea typeface="Source Serif 4" pitchFamily="18" charset="-122"/>
                <a:cs typeface="Source Serif 4" pitchFamily="18" charset="-120"/>
              </a:rPr>
              <a:t>61%</a:t>
            </a:r>
            <a:endParaRPr lang="en-US" sz="4200" dirty="0"/>
          </a:p>
        </p:txBody>
      </p:sp>
      <p:sp>
        <p:nvSpPr>
          <p:cNvPr id="11" name="Text 9"/>
          <p:cNvSpPr/>
          <p:nvPr/>
        </p:nvSpPr>
        <p:spPr>
          <a:xfrm>
            <a:off x="4609624" y="5375910"/>
            <a:ext cx="3061935" cy="4877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9C3CC"/>
                </a:solidFill>
                <a:latin typeface="IBM Plex Sans" pitchFamily="34" charset="0"/>
                <a:ea typeface="IBM Plex Sans" pitchFamily="34" charset="-122"/>
                <a:cs typeface="IBM Plex Sans" pitchFamily="34" charset="-120"/>
              </a:rPr>
              <a:t>of our top 100 alerts are fraud, 35× the base rate</a:t>
            </a:r>
            <a:endParaRPr lang="en-US" sz="1400" dirty="0"/>
          </a:p>
        </p:txBody>
      </p:sp>
      <p:sp>
        <p:nvSpPr>
          <p:cNvPr id="12" name="Shape 10"/>
          <p:cNvSpPr/>
          <p:nvPr/>
        </p:nvSpPr>
        <p:spPr>
          <a:xfrm>
            <a:off x="7995722" y="4562495"/>
            <a:ext cx="3380324" cy="1479550"/>
          </a:xfrm>
          <a:prstGeom prst="roundRect">
            <a:avLst>
              <a:gd name="adj" fmla="val 6652"/>
            </a:avLst>
          </a:prstGeom>
          <a:solidFill>
            <a:srgbClr val="1E2C3B"/>
          </a:solidFill>
          <a:ln w="6350">
            <a:solidFill>
              <a:srgbClr val="33465A"/>
            </a:solidFill>
            <a:prstDash val="solid"/>
          </a:ln>
        </p:spPr>
        <p:txBody>
          <a:bodyPr/>
          <a:lstStyle/>
          <a:p>
            <a:endParaRPr lang="en-SG"/>
          </a:p>
        </p:txBody>
      </p:sp>
      <p:sp>
        <p:nvSpPr>
          <p:cNvPr id="13" name="Text 11"/>
          <p:cNvSpPr/>
          <p:nvPr/>
        </p:nvSpPr>
        <p:spPr>
          <a:xfrm>
            <a:off x="8199537" y="4766310"/>
            <a:ext cx="3061874" cy="558800"/>
          </a:xfrm>
          <a:prstGeom prst="rect">
            <a:avLst/>
          </a:prstGeom>
          <a:noFill/>
          <a:ln/>
        </p:spPr>
        <p:txBody>
          <a:bodyPr wrap="square" lIns="0" tIns="0" rIns="0" bIns="0" rtlCol="0" anchor="t">
            <a:normAutofit/>
          </a:bodyPr>
          <a:lstStyle/>
          <a:p>
            <a:pPr marL="0" indent="0" algn="l">
              <a:lnSpc>
                <a:spcPts val="4200"/>
              </a:lnSpc>
              <a:buNone/>
            </a:pPr>
            <a:r>
              <a:rPr lang="en-US" sz="4200" b="1" dirty="0">
                <a:solidFill>
                  <a:srgbClr val="F08A4B"/>
                </a:solidFill>
                <a:latin typeface="Source Serif 4" pitchFamily="18" charset="0"/>
                <a:ea typeface="Source Serif 4" pitchFamily="18" charset="-122"/>
                <a:cs typeface="Source Serif 4" pitchFamily="18" charset="-120"/>
              </a:rPr>
              <a:t>0.0</a:t>
            </a:r>
            <a:endParaRPr lang="en-US" sz="4200" dirty="0"/>
          </a:p>
        </p:txBody>
      </p:sp>
      <p:sp>
        <p:nvSpPr>
          <p:cNvPr id="14" name="Text 12"/>
          <p:cNvSpPr/>
          <p:nvPr/>
        </p:nvSpPr>
        <p:spPr>
          <a:xfrm>
            <a:off x="8199537" y="5375910"/>
            <a:ext cx="3061874" cy="4877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B9C3CC"/>
                </a:solidFill>
                <a:latin typeface="IBM Plex Sans" pitchFamily="34" charset="0"/>
                <a:ea typeface="IBM Plex Sans" pitchFamily="34" charset="-122"/>
                <a:cs typeface="IBM Plex Sans" pitchFamily="34" charset="-120"/>
              </a:rPr>
              <a:t>difference when the submitted package is re-run from scratch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02D"/>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8A4B"/>
                </a:solidFill>
                <a:latin typeface="IBM Plex Mono" pitchFamily="49" charset="0"/>
                <a:ea typeface="IBM Plex Mono" pitchFamily="49" charset="-122"/>
                <a:cs typeface="IBM Plex Mono" pitchFamily="49" charset="-120"/>
              </a:rPr>
              <a:t>THE PROBLEM</a:t>
            </a:r>
            <a:endParaRPr lang="en-US" sz="1200" dirty="0"/>
          </a:p>
        </p:txBody>
      </p:sp>
      <p:sp>
        <p:nvSpPr>
          <p:cNvPr id="3" name="Text 1"/>
          <p:cNvSpPr>
            <a:spLocks noGrp="1"/>
          </p:cNvSpPr>
          <p:nvPr>
            <p:ph type="title"/>
          </p:nvPr>
        </p:nvSpPr>
        <p:spPr>
          <a:xfrm>
            <a:off x="812780" y="1102340"/>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FEBE1"/>
                </a:solidFill>
                <a:latin typeface="Source Serif 4" pitchFamily="18" charset="0"/>
                <a:ea typeface="Source Serif 4" pitchFamily="18" charset="-122"/>
                <a:cs typeface="Source Serif 4" pitchFamily="18" charset="-120"/>
              </a:rPr>
              <a:t>Only 1.77% of transactions are fraud</a:t>
            </a:r>
            <a:endParaRPr lang="en-US" sz="3000" dirty="0"/>
          </a:p>
        </p:txBody>
      </p:sp>
      <p:sp>
        <p:nvSpPr>
          <p:cNvPr id="4" name="Shape 2"/>
          <p:cNvSpPr/>
          <p:nvPr/>
        </p:nvSpPr>
        <p:spPr>
          <a:xfrm>
            <a:off x="815955" y="1829415"/>
            <a:ext cx="5175250" cy="2260541"/>
          </a:xfrm>
          <a:prstGeom prst="roundRect">
            <a:avLst>
              <a:gd name="adj" fmla="val 4354"/>
            </a:avLst>
          </a:prstGeom>
          <a:solidFill>
            <a:srgbClr val="1E2C3B"/>
          </a:solidFill>
          <a:ln w="6350">
            <a:solidFill>
              <a:srgbClr val="33465A"/>
            </a:solidFill>
            <a:prstDash val="solid"/>
          </a:ln>
        </p:spPr>
        <p:txBody>
          <a:bodyPr/>
          <a:lstStyle/>
          <a:p>
            <a:endParaRPr lang="en-SG"/>
          </a:p>
        </p:txBody>
      </p:sp>
      <p:sp>
        <p:nvSpPr>
          <p:cNvPr id="5" name="Text 3"/>
          <p:cNvSpPr/>
          <p:nvPr/>
        </p:nvSpPr>
        <p:spPr>
          <a:xfrm>
            <a:off x="1070551" y="2084011"/>
            <a:ext cx="4806041" cy="850920"/>
          </a:xfrm>
          <a:prstGeom prst="rect">
            <a:avLst/>
          </a:prstGeom>
          <a:noFill/>
          <a:ln/>
        </p:spPr>
        <p:txBody>
          <a:bodyPr wrap="square" lIns="0" tIns="0" rIns="0" bIns="0" rtlCol="0" anchor="t">
            <a:normAutofit/>
          </a:bodyPr>
          <a:lstStyle/>
          <a:p>
            <a:pPr marL="0" indent="0" algn="l">
              <a:lnSpc>
                <a:spcPts val="6500"/>
              </a:lnSpc>
              <a:buNone/>
            </a:pPr>
            <a:r>
              <a:rPr lang="en-US" sz="6500" b="1" dirty="0">
                <a:solidFill>
                  <a:srgbClr val="F08A4B"/>
                </a:solidFill>
                <a:latin typeface="Source Serif 4" pitchFamily="18" charset="0"/>
                <a:ea typeface="Source Serif 4" pitchFamily="18" charset="-122"/>
                <a:cs typeface="Source Serif 4" pitchFamily="18" charset="-120"/>
              </a:rPr>
              <a:t>98.24%</a:t>
            </a:r>
            <a:endParaRPr lang="en-US" sz="6500" dirty="0"/>
          </a:p>
        </p:txBody>
      </p:sp>
      <p:sp>
        <p:nvSpPr>
          <p:cNvPr id="6" name="Text 4"/>
          <p:cNvSpPr/>
          <p:nvPr/>
        </p:nvSpPr>
        <p:spPr>
          <a:xfrm>
            <a:off x="1070551" y="2985731"/>
            <a:ext cx="4806041"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FEBE1"/>
                </a:solidFill>
                <a:latin typeface="IBM Plex Sans" pitchFamily="34" charset="0"/>
                <a:ea typeface="IBM Plex Sans" pitchFamily="34" charset="-122"/>
                <a:cs typeface="IBM Plex Sans" pitchFamily="34" charset="-120"/>
              </a:rPr>
              <a:t>accuracy from calling everything legitimate</a:t>
            </a:r>
            <a:endParaRPr lang="en-US" sz="1700" dirty="0"/>
          </a:p>
        </p:txBody>
      </p:sp>
      <p:sp>
        <p:nvSpPr>
          <p:cNvPr id="7" name="Text 5"/>
          <p:cNvSpPr/>
          <p:nvPr/>
        </p:nvSpPr>
        <p:spPr>
          <a:xfrm>
            <a:off x="1070551" y="3321010"/>
            <a:ext cx="4806041"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CC"/>
                </a:solidFill>
                <a:latin typeface="IBM Plex Sans" pitchFamily="34" charset="0"/>
                <a:ea typeface="IBM Plex Sans" pitchFamily="34" charset="-122"/>
                <a:cs typeface="IBM Plex Sans" pitchFamily="34" charset="-120"/>
              </a:rPr>
              <a:t>…and it catches </a:t>
            </a:r>
            <a:r>
              <a:rPr lang="en-US" sz="1500" b="1" dirty="0">
                <a:solidFill>
                  <a:srgbClr val="B9C3CC"/>
                </a:solidFill>
                <a:latin typeface="IBM Plex Sans" pitchFamily="34" charset="0"/>
                <a:ea typeface="IBM Plex Sans" pitchFamily="34" charset="-122"/>
                <a:cs typeface="IBM Plex Sans" pitchFamily="34" charset="-120"/>
              </a:rPr>
              <a:t>0 of 353</a:t>
            </a:r>
            <a:r>
              <a:rPr lang="en-US" sz="1500" dirty="0">
                <a:solidFill>
                  <a:srgbClr val="B9C3CC"/>
                </a:solidFill>
                <a:latin typeface="IBM Plex Sans" pitchFamily="34" charset="0"/>
                <a:ea typeface="IBM Plex Sans" pitchFamily="34" charset="-122"/>
                <a:cs typeface="IBM Plex Sans" pitchFamily="34" charset="-120"/>
              </a:rPr>
              <a:t> frauds.</a:t>
            </a:r>
            <a:endParaRPr lang="en-US" sz="1500" dirty="0"/>
          </a:p>
        </p:txBody>
      </p:sp>
      <p:sp>
        <p:nvSpPr>
          <p:cNvPr id="8" name="Shape 6"/>
          <p:cNvSpPr/>
          <p:nvPr/>
        </p:nvSpPr>
        <p:spPr>
          <a:xfrm>
            <a:off x="6200735" y="1829415"/>
            <a:ext cx="5175310" cy="2260541"/>
          </a:xfrm>
          <a:prstGeom prst="roundRect">
            <a:avLst>
              <a:gd name="adj" fmla="val 4354"/>
            </a:avLst>
          </a:prstGeom>
          <a:solidFill>
            <a:srgbClr val="1E2C3B"/>
          </a:solidFill>
          <a:ln w="6350">
            <a:solidFill>
              <a:srgbClr val="33465A"/>
            </a:solidFill>
            <a:prstDash val="solid"/>
          </a:ln>
        </p:spPr>
        <p:txBody>
          <a:bodyPr/>
          <a:lstStyle/>
          <a:p>
            <a:endParaRPr lang="en-SG"/>
          </a:p>
        </p:txBody>
      </p:sp>
      <p:sp>
        <p:nvSpPr>
          <p:cNvPr id="9" name="Text 7"/>
          <p:cNvSpPr/>
          <p:nvPr/>
        </p:nvSpPr>
        <p:spPr>
          <a:xfrm>
            <a:off x="6455331" y="2084011"/>
            <a:ext cx="4806103" cy="850920"/>
          </a:xfrm>
          <a:prstGeom prst="rect">
            <a:avLst/>
          </a:prstGeom>
          <a:noFill/>
          <a:ln/>
        </p:spPr>
        <p:txBody>
          <a:bodyPr wrap="square" lIns="0" tIns="0" rIns="0" bIns="0" rtlCol="0" anchor="t">
            <a:normAutofit/>
          </a:bodyPr>
          <a:lstStyle/>
          <a:p>
            <a:pPr marL="0" indent="0" algn="l">
              <a:lnSpc>
                <a:spcPts val="6500"/>
              </a:lnSpc>
              <a:buNone/>
            </a:pPr>
            <a:r>
              <a:rPr lang="en-US" sz="6500" b="1" dirty="0">
                <a:solidFill>
                  <a:srgbClr val="EFEBE1"/>
                </a:solidFill>
                <a:latin typeface="Source Serif 4" pitchFamily="18" charset="0"/>
                <a:ea typeface="Source Serif 4" pitchFamily="18" charset="-122"/>
                <a:cs typeface="Source Serif 4" pitchFamily="18" charset="-120"/>
              </a:rPr>
              <a:t>0.0176</a:t>
            </a:r>
            <a:endParaRPr lang="en-US" sz="6500" dirty="0"/>
          </a:p>
        </p:txBody>
      </p:sp>
      <p:sp>
        <p:nvSpPr>
          <p:cNvPr id="10" name="Text 8"/>
          <p:cNvSpPr/>
          <p:nvPr/>
        </p:nvSpPr>
        <p:spPr>
          <a:xfrm>
            <a:off x="6455331" y="2985731"/>
            <a:ext cx="4806103"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FEBE1"/>
                </a:solidFill>
                <a:latin typeface="IBM Plex Sans" pitchFamily="34" charset="0"/>
                <a:ea typeface="IBM Plex Sans" pitchFamily="34" charset="-122"/>
                <a:cs typeface="IBM Plex Sans" pitchFamily="34" charset="-120"/>
              </a:rPr>
              <a:t>PR-AUC of a random ranking</a:t>
            </a:r>
            <a:endParaRPr lang="en-US" sz="1700" dirty="0"/>
          </a:p>
        </p:txBody>
      </p:sp>
      <p:sp>
        <p:nvSpPr>
          <p:cNvPr id="11" name="Text 9"/>
          <p:cNvSpPr/>
          <p:nvPr/>
        </p:nvSpPr>
        <p:spPr>
          <a:xfrm>
            <a:off x="6455331" y="3321010"/>
            <a:ext cx="4806103"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B9C3CC"/>
                </a:solidFill>
                <a:latin typeface="IBM Plex Sans" pitchFamily="34" charset="0"/>
                <a:ea typeface="IBM Plex Sans" pitchFamily="34" charset="-122"/>
                <a:cs typeface="IBM Plex Sans" pitchFamily="34" charset="-120"/>
              </a:rPr>
              <a:t>That is the real floor. We optimise PR-AUC (average precision), not accuracy or ROC.</a:t>
            </a:r>
            <a:endParaRPr lang="en-US" sz="1500" dirty="0"/>
          </a:p>
        </p:txBody>
      </p:sp>
      <p:sp>
        <p:nvSpPr>
          <p:cNvPr id="12" name="Text 10"/>
          <p:cNvSpPr/>
          <p:nvPr/>
        </p:nvSpPr>
        <p:spPr>
          <a:xfrm>
            <a:off x="812780" y="4397931"/>
            <a:ext cx="10883434"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BM Plex Sans" pitchFamily="34" charset="0"/>
                <a:ea typeface="IBM Plex Sans" pitchFamily="34" charset="-122"/>
                <a:cs typeface="IBM Plex Sans" pitchFamily="34" charset="-120"/>
              </a:rPr>
              <a:t>20,000 training transactions, drawn to scale</a:t>
            </a:r>
            <a:endParaRPr lang="en-US" sz="1400" dirty="0"/>
          </a:p>
        </p:txBody>
      </p:sp>
      <p:sp>
        <p:nvSpPr>
          <p:cNvPr id="13" name="Shape 11"/>
          <p:cNvSpPr/>
          <p:nvPr/>
        </p:nvSpPr>
        <p:spPr>
          <a:xfrm>
            <a:off x="812780" y="4748392"/>
            <a:ext cx="10382251" cy="406360"/>
          </a:xfrm>
          <a:custGeom>
            <a:avLst/>
            <a:gdLst/>
            <a:ahLst/>
            <a:cxnLst/>
            <a:rect l="l" t="t" r="r" b="b"/>
            <a:pathLst>
              <a:path w="10382251" h="406360">
                <a:moveTo>
                  <a:pt x="0" y="50800"/>
                </a:moveTo>
                <a:arcTo wR="50800" hR="50800" stAng="10800000" swAng="5400000"/>
                <a:lnTo>
                  <a:pt x="10382251" y="0"/>
                </a:lnTo>
                <a:lnTo>
                  <a:pt x="10382251" y="406360"/>
                </a:lnTo>
                <a:lnTo>
                  <a:pt x="50800" y="406360"/>
                </a:lnTo>
                <a:arcTo wR="50800" hR="50800" stAng="5400000" swAng="5400000"/>
                <a:close/>
              </a:path>
            </a:pathLst>
          </a:custGeom>
          <a:solidFill>
            <a:srgbClr val="3A5068"/>
          </a:solidFill>
          <a:ln/>
        </p:spPr>
        <p:txBody>
          <a:bodyPr/>
          <a:lstStyle/>
          <a:p>
            <a:endParaRPr lang="en-SG"/>
          </a:p>
        </p:txBody>
      </p:sp>
      <p:sp>
        <p:nvSpPr>
          <p:cNvPr id="14" name="Shape 12"/>
          <p:cNvSpPr/>
          <p:nvPr/>
        </p:nvSpPr>
        <p:spPr>
          <a:xfrm>
            <a:off x="11195031" y="4748392"/>
            <a:ext cx="184130" cy="406360"/>
          </a:xfrm>
          <a:custGeom>
            <a:avLst/>
            <a:gdLst/>
            <a:ahLst/>
            <a:cxnLst/>
            <a:rect l="l" t="t" r="r" b="b"/>
            <a:pathLst>
              <a:path w="184130" h="406360">
                <a:moveTo>
                  <a:pt x="133330" y="0"/>
                </a:moveTo>
                <a:arcTo wR="50800" hR="50800" stAng="16200000" swAng="5400000"/>
                <a:lnTo>
                  <a:pt x="184130" y="355560"/>
                </a:lnTo>
                <a:arcTo wR="50800" hR="50800" stAng="0" swAng="5400000"/>
                <a:lnTo>
                  <a:pt x="0" y="406360"/>
                </a:lnTo>
                <a:lnTo>
                  <a:pt x="0" y="0"/>
                </a:lnTo>
                <a:close/>
              </a:path>
            </a:pathLst>
          </a:custGeom>
          <a:solidFill>
            <a:srgbClr val="F08A4B"/>
          </a:solidFill>
          <a:ln/>
        </p:spPr>
        <p:txBody>
          <a:bodyPr/>
          <a:lstStyle/>
          <a:p>
            <a:endParaRPr lang="en-SG"/>
          </a:p>
        </p:txBody>
      </p:sp>
      <p:sp>
        <p:nvSpPr>
          <p:cNvPr id="15" name="Text 13"/>
          <p:cNvSpPr/>
          <p:nvPr/>
        </p:nvSpPr>
        <p:spPr>
          <a:xfrm>
            <a:off x="812780" y="5256312"/>
            <a:ext cx="2670048"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BM Plex Sans" pitchFamily="34" charset="0"/>
                <a:ea typeface="IBM Plex Sans" pitchFamily="34" charset="-122"/>
                <a:cs typeface="IBM Plex Sans" pitchFamily="34" charset="-120"/>
              </a:rPr>
              <a:t>19,647 legitimate (98.24%)</a:t>
            </a:r>
            <a:endParaRPr lang="en-US" sz="1400" dirty="0"/>
          </a:p>
        </p:txBody>
      </p:sp>
      <p:sp>
        <p:nvSpPr>
          <p:cNvPr id="16" name="Text 14"/>
          <p:cNvSpPr/>
          <p:nvPr/>
        </p:nvSpPr>
        <p:spPr>
          <a:xfrm>
            <a:off x="9305604" y="5256312"/>
            <a:ext cx="2073616" cy="27430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353 fraud (1.77%) →</a:t>
            </a:r>
            <a:endParaRPr lang="en-US" sz="1400" dirty="0"/>
          </a:p>
        </p:txBody>
      </p:sp>
      <p:sp>
        <p:nvSpPr>
          <p:cNvPr id="17" name="Text 15"/>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08A4B"/>
                </a:solidFill>
                <a:latin typeface="IBM Plex Mono" pitchFamily="49" charset="0"/>
                <a:ea typeface="IBM Plex Mono" pitchFamily="49" charset="-122"/>
                <a:cs typeface="IBM Plex Mono" pitchFamily="49" charset="-120"/>
              </a:rPr>
              <a:t>EVIDENCE</a:t>
            </a:r>
            <a:r>
              <a:rPr lang="en-US" sz="1200" dirty="0">
                <a:solidFill>
                  <a:srgbClr val="B9C3CC"/>
                </a:solidFill>
                <a:latin typeface="IBM Plex Mono" pitchFamily="49" charset="0"/>
                <a:ea typeface="IBM Plex Mono" pitchFamily="49" charset="-122"/>
                <a:cs typeface="IBM Plex Mono" pitchFamily="49" charset="-120"/>
              </a:rPr>
              <a:t> train.csv: 353 fraud / 20,000 rows; always-legitimate baseline computed directly</a:t>
            </a:r>
            <a:endParaRPr lang="en-US" sz="1200" dirty="0"/>
          </a:p>
        </p:txBody>
      </p:sp>
      <p:sp>
        <p:nvSpPr>
          <p:cNvPr id="18" name="Text 16"/>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CC"/>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WHAT WE BUILT</a:t>
            </a:r>
            <a:endParaRPr lang="en-US" sz="1200" dirty="0"/>
          </a:p>
        </p:txBody>
      </p:sp>
      <p:sp>
        <p:nvSpPr>
          <p:cNvPr id="3" name="Text 1"/>
          <p:cNvSpPr>
            <a:spLocks noGrp="1"/>
          </p:cNvSpPr>
          <p:nvPr>
            <p:ph type="title"/>
          </p:nvPr>
        </p:nvSpPr>
        <p:spPr>
          <a:xfrm>
            <a:off x="812780" y="1102340"/>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From raw transactions to a risk score</a:t>
            </a:r>
            <a:endParaRPr lang="en-US" sz="3000" dirty="0"/>
          </a:p>
        </p:txBody>
      </p:sp>
      <p:sp>
        <p:nvSpPr>
          <p:cNvPr id="4" name="Shape 2"/>
          <p:cNvSpPr/>
          <p:nvPr/>
        </p:nvSpPr>
        <p:spPr>
          <a:xfrm>
            <a:off x="815955" y="2204045"/>
            <a:ext cx="1619210" cy="1078071"/>
          </a:xfrm>
          <a:prstGeom prst="roundRect">
            <a:avLst>
              <a:gd name="adj" fmla="val 9130"/>
            </a:avLst>
          </a:prstGeom>
          <a:solidFill>
            <a:srgbClr val="FCFBF7"/>
          </a:solidFill>
          <a:ln w="6350">
            <a:solidFill>
              <a:srgbClr val="DCD5C4"/>
            </a:solidFill>
            <a:prstDash val="solid"/>
          </a:ln>
        </p:spPr>
        <p:txBody>
          <a:bodyPr/>
          <a:lstStyle/>
          <a:p>
            <a:endParaRPr lang="en-SG"/>
          </a:p>
        </p:txBody>
      </p:sp>
      <p:sp>
        <p:nvSpPr>
          <p:cNvPr id="5" name="Text 3"/>
          <p:cNvSpPr/>
          <p:nvPr/>
        </p:nvSpPr>
        <p:spPr>
          <a:xfrm>
            <a:off x="968990" y="2382441"/>
            <a:ext cx="1363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968990" y="2659261"/>
            <a:ext cx="1363940" cy="46986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12C"/>
                </a:solidFill>
                <a:latin typeface="IBM Plex Sans" pitchFamily="34" charset="0"/>
                <a:ea typeface="IBM Plex Sans" pitchFamily="34" charset="-122"/>
                <a:cs typeface="IBM Plex Sans" pitchFamily="34" charset="-120"/>
              </a:rPr>
              <a:t>20,000 labelled transactions</a:t>
            </a:r>
            <a:endParaRPr lang="en-US" sz="1400" dirty="0"/>
          </a:p>
        </p:txBody>
      </p:sp>
      <p:pic>
        <p:nvPicPr>
          <p:cNvPr id="7" name="Image 0" descr="arrow-right"/>
          <p:cNvPicPr>
            <a:picLocks noChangeAspect="1"/>
          </p:cNvPicPr>
          <p:nvPr/>
        </p:nvPicPr>
        <p:blipFill>
          <a:blip r:embed="rId3"/>
          <a:srcRect l="-8" r="-8"/>
          <a:stretch/>
        </p:blipFill>
        <p:spPr>
          <a:xfrm>
            <a:off x="2539901" y="2654201"/>
            <a:ext cx="355580" cy="177760"/>
          </a:xfrm>
          <a:prstGeom prst="rect">
            <a:avLst/>
          </a:prstGeom>
        </p:spPr>
      </p:pic>
      <p:sp>
        <p:nvSpPr>
          <p:cNvPr id="8" name="Shape 5"/>
          <p:cNvSpPr/>
          <p:nvPr/>
        </p:nvSpPr>
        <p:spPr>
          <a:xfrm>
            <a:off x="3000216" y="1981815"/>
            <a:ext cx="1619210" cy="1522532"/>
          </a:xfrm>
          <a:prstGeom prst="roundRect">
            <a:avLst>
              <a:gd name="adj" fmla="val 6465"/>
            </a:avLst>
          </a:prstGeom>
          <a:solidFill>
            <a:srgbClr val="FCFBF7"/>
          </a:solidFill>
          <a:ln w="6350">
            <a:solidFill>
              <a:srgbClr val="DCD5C4"/>
            </a:solidFill>
            <a:prstDash val="solid"/>
          </a:ln>
        </p:spPr>
        <p:txBody>
          <a:bodyPr/>
          <a:lstStyle/>
          <a:p>
            <a:endParaRPr lang="en-SG"/>
          </a:p>
        </p:txBody>
      </p:sp>
      <p:sp>
        <p:nvSpPr>
          <p:cNvPr id="9" name="Text 6"/>
          <p:cNvSpPr/>
          <p:nvPr/>
        </p:nvSpPr>
        <p:spPr>
          <a:xfrm>
            <a:off x="3153251" y="2160211"/>
            <a:ext cx="1363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02</a:t>
            </a:r>
            <a:endParaRPr lang="en-US" sz="1200" dirty="0"/>
          </a:p>
        </p:txBody>
      </p:sp>
      <p:sp>
        <p:nvSpPr>
          <p:cNvPr id="10" name="Text 7"/>
          <p:cNvSpPr/>
          <p:nvPr/>
        </p:nvSpPr>
        <p:spPr>
          <a:xfrm>
            <a:off x="3153251" y="2437031"/>
            <a:ext cx="1363940" cy="914321"/>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12C"/>
                </a:solidFill>
                <a:latin typeface="IBM Plex Sans" pitchFamily="34" charset="0"/>
                <a:ea typeface="IBM Plex Sans" pitchFamily="34" charset="-122"/>
                <a:cs typeface="IBM Plex Sans" pitchFamily="34" charset="-120"/>
              </a:rPr>
              <a:t>Clean + engineer features, in-fold</a:t>
            </a:r>
            <a:endParaRPr lang="en-US" sz="1400" dirty="0"/>
          </a:p>
        </p:txBody>
      </p:sp>
      <p:pic>
        <p:nvPicPr>
          <p:cNvPr id="11" name="Image 1" descr="arrow-right"/>
          <p:cNvPicPr>
            <a:picLocks noChangeAspect="1"/>
          </p:cNvPicPr>
          <p:nvPr/>
        </p:nvPicPr>
        <p:blipFill>
          <a:blip r:embed="rId3"/>
          <a:srcRect l="-8" r="-8"/>
          <a:stretch/>
        </p:blipFill>
        <p:spPr>
          <a:xfrm>
            <a:off x="4724162" y="2654201"/>
            <a:ext cx="355580" cy="177760"/>
          </a:xfrm>
          <a:prstGeom prst="rect">
            <a:avLst/>
          </a:prstGeom>
        </p:spPr>
      </p:pic>
      <p:sp>
        <p:nvSpPr>
          <p:cNvPr id="12" name="Shape 8"/>
          <p:cNvSpPr/>
          <p:nvPr/>
        </p:nvSpPr>
        <p:spPr>
          <a:xfrm>
            <a:off x="5184478" y="2092902"/>
            <a:ext cx="1619210" cy="1300301"/>
          </a:xfrm>
          <a:prstGeom prst="roundRect">
            <a:avLst>
              <a:gd name="adj" fmla="val 7569"/>
            </a:avLst>
          </a:prstGeom>
          <a:solidFill>
            <a:srgbClr val="FCFBF7"/>
          </a:solidFill>
          <a:ln w="6350">
            <a:solidFill>
              <a:srgbClr val="DCD5C4"/>
            </a:solidFill>
            <a:prstDash val="solid"/>
          </a:ln>
        </p:spPr>
        <p:txBody>
          <a:bodyPr/>
          <a:lstStyle/>
          <a:p>
            <a:endParaRPr lang="en-SG"/>
          </a:p>
        </p:txBody>
      </p:sp>
      <p:sp>
        <p:nvSpPr>
          <p:cNvPr id="13" name="Text 9"/>
          <p:cNvSpPr/>
          <p:nvPr/>
        </p:nvSpPr>
        <p:spPr>
          <a:xfrm>
            <a:off x="5337513" y="2271297"/>
            <a:ext cx="1363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03</a:t>
            </a:r>
            <a:endParaRPr lang="en-US" sz="1200" dirty="0"/>
          </a:p>
        </p:txBody>
      </p:sp>
      <p:sp>
        <p:nvSpPr>
          <p:cNvPr id="14" name="Text 10"/>
          <p:cNvSpPr/>
          <p:nvPr/>
        </p:nvSpPr>
        <p:spPr>
          <a:xfrm>
            <a:off x="5337513" y="2548117"/>
            <a:ext cx="1363940" cy="692091"/>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12C"/>
                </a:solidFill>
                <a:latin typeface="IBM Plex Sans" pitchFamily="34" charset="0"/>
                <a:ea typeface="IBM Plex Sans" pitchFamily="34" charset="-122"/>
                <a:cs typeface="IBM Plex Sans" pitchFamily="34" charset="-120"/>
              </a:rPr>
              <a:t>Three models: LR, CatBoost, TAN</a:t>
            </a:r>
            <a:endParaRPr lang="en-US" sz="1400" dirty="0"/>
          </a:p>
        </p:txBody>
      </p:sp>
      <p:pic>
        <p:nvPicPr>
          <p:cNvPr id="15" name="Image 2" descr="arrow-right"/>
          <p:cNvPicPr>
            <a:picLocks noChangeAspect="1"/>
          </p:cNvPicPr>
          <p:nvPr/>
        </p:nvPicPr>
        <p:blipFill>
          <a:blip r:embed="rId3"/>
          <a:srcRect l="-8" r="-8"/>
          <a:stretch/>
        </p:blipFill>
        <p:spPr>
          <a:xfrm>
            <a:off x="6908423" y="2654201"/>
            <a:ext cx="355580" cy="177760"/>
          </a:xfrm>
          <a:prstGeom prst="rect">
            <a:avLst/>
          </a:prstGeom>
        </p:spPr>
      </p:pic>
      <p:sp>
        <p:nvSpPr>
          <p:cNvPr id="16" name="Shape 11"/>
          <p:cNvSpPr/>
          <p:nvPr/>
        </p:nvSpPr>
        <p:spPr>
          <a:xfrm>
            <a:off x="7368739" y="2092902"/>
            <a:ext cx="1619210" cy="1300301"/>
          </a:xfrm>
          <a:prstGeom prst="roundRect">
            <a:avLst>
              <a:gd name="adj" fmla="val 7569"/>
            </a:avLst>
          </a:prstGeom>
          <a:solidFill>
            <a:srgbClr val="FCFBF7"/>
          </a:solidFill>
          <a:ln w="6350">
            <a:solidFill>
              <a:srgbClr val="DCD5C4"/>
            </a:solidFill>
            <a:prstDash val="solid"/>
          </a:ln>
        </p:spPr>
        <p:txBody>
          <a:bodyPr/>
          <a:lstStyle/>
          <a:p>
            <a:endParaRPr lang="en-SG"/>
          </a:p>
        </p:txBody>
      </p:sp>
      <p:sp>
        <p:nvSpPr>
          <p:cNvPr id="17" name="Text 12"/>
          <p:cNvSpPr/>
          <p:nvPr/>
        </p:nvSpPr>
        <p:spPr>
          <a:xfrm>
            <a:off x="7521773" y="2271297"/>
            <a:ext cx="1363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04</a:t>
            </a:r>
            <a:endParaRPr lang="en-US" sz="1200" dirty="0"/>
          </a:p>
        </p:txBody>
      </p:sp>
      <p:sp>
        <p:nvSpPr>
          <p:cNvPr id="18" name="Text 13"/>
          <p:cNvSpPr/>
          <p:nvPr/>
        </p:nvSpPr>
        <p:spPr>
          <a:xfrm>
            <a:off x="7521773" y="2548117"/>
            <a:ext cx="1363940" cy="692091"/>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12C"/>
                </a:solidFill>
                <a:latin typeface="IBM Plex Sans" pitchFamily="34" charset="0"/>
                <a:ea typeface="IBM Plex Sans" pitchFamily="34" charset="-122"/>
                <a:cs typeface="IBM Plex Sans" pitchFamily="34" charset="-120"/>
              </a:rPr>
              <a:t>Blend 63 / 27 / 10 into one score</a:t>
            </a:r>
            <a:endParaRPr lang="en-US" sz="1400" dirty="0"/>
          </a:p>
        </p:txBody>
      </p:sp>
      <p:pic>
        <p:nvPicPr>
          <p:cNvPr id="19" name="Image 3" descr="arrow-right"/>
          <p:cNvPicPr>
            <a:picLocks noChangeAspect="1"/>
          </p:cNvPicPr>
          <p:nvPr/>
        </p:nvPicPr>
        <p:blipFill>
          <a:blip r:embed="rId3"/>
          <a:srcRect l="-8" r="-8"/>
          <a:stretch/>
        </p:blipFill>
        <p:spPr>
          <a:xfrm>
            <a:off x="9092685" y="2654201"/>
            <a:ext cx="355580" cy="177760"/>
          </a:xfrm>
          <a:prstGeom prst="rect">
            <a:avLst/>
          </a:prstGeom>
        </p:spPr>
      </p:pic>
      <p:sp>
        <p:nvSpPr>
          <p:cNvPr id="20" name="Shape 14"/>
          <p:cNvSpPr/>
          <p:nvPr/>
        </p:nvSpPr>
        <p:spPr>
          <a:xfrm>
            <a:off x="9553000" y="2092902"/>
            <a:ext cx="1619210" cy="1300301"/>
          </a:xfrm>
          <a:prstGeom prst="roundRect">
            <a:avLst>
              <a:gd name="adj" fmla="val 7569"/>
            </a:avLst>
          </a:prstGeom>
          <a:solidFill>
            <a:srgbClr val="B44D19"/>
          </a:solidFill>
          <a:ln w="6350">
            <a:solidFill>
              <a:srgbClr val="B44D19"/>
            </a:solidFill>
            <a:prstDash val="solid"/>
          </a:ln>
        </p:spPr>
        <p:txBody>
          <a:bodyPr/>
          <a:lstStyle/>
          <a:p>
            <a:endParaRPr lang="en-SG"/>
          </a:p>
        </p:txBody>
      </p:sp>
      <p:sp>
        <p:nvSpPr>
          <p:cNvPr id="21" name="Text 15"/>
          <p:cNvSpPr/>
          <p:nvPr/>
        </p:nvSpPr>
        <p:spPr>
          <a:xfrm>
            <a:off x="9706035" y="2271297"/>
            <a:ext cx="13639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FE6"/>
                </a:solidFill>
                <a:latin typeface="IBM Plex Mono" pitchFamily="49" charset="0"/>
                <a:ea typeface="IBM Plex Mono" pitchFamily="49" charset="-122"/>
                <a:cs typeface="IBM Plex Mono" pitchFamily="49" charset="-120"/>
              </a:rPr>
              <a:t>05</a:t>
            </a:r>
            <a:endParaRPr lang="en-US" sz="1200" dirty="0"/>
          </a:p>
        </p:txBody>
      </p:sp>
      <p:sp>
        <p:nvSpPr>
          <p:cNvPr id="22" name="Text 16"/>
          <p:cNvSpPr/>
          <p:nvPr/>
        </p:nvSpPr>
        <p:spPr>
          <a:xfrm>
            <a:off x="9706035" y="2548117"/>
            <a:ext cx="1363940" cy="692091"/>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FF8F2"/>
                </a:solidFill>
                <a:latin typeface="IBM Plex Sans" pitchFamily="34" charset="0"/>
                <a:ea typeface="IBM Plex Sans" pitchFamily="34" charset="-122"/>
                <a:cs typeface="IBM Plex Sans" pitchFamily="34" charset="-120"/>
              </a:rPr>
              <a:t>Top ~1% → step-up check (OTP)</a:t>
            </a:r>
            <a:endParaRPr lang="en-US" sz="1400" dirty="0"/>
          </a:p>
        </p:txBody>
      </p:sp>
      <p:sp>
        <p:nvSpPr>
          <p:cNvPr id="23" name="Shape 17"/>
          <p:cNvSpPr/>
          <p:nvPr/>
        </p:nvSpPr>
        <p:spPr>
          <a:xfrm>
            <a:off x="815955" y="3967897"/>
            <a:ext cx="2501940" cy="1618913"/>
          </a:xfrm>
          <a:prstGeom prst="roundRect">
            <a:avLst>
              <a:gd name="adj" fmla="val 6080"/>
            </a:avLst>
          </a:prstGeom>
          <a:solidFill>
            <a:srgbClr val="FCFBF7"/>
          </a:solidFill>
          <a:ln w="6350">
            <a:solidFill>
              <a:srgbClr val="DCD5C4"/>
            </a:solidFill>
            <a:prstDash val="solid"/>
          </a:ln>
        </p:spPr>
        <p:txBody>
          <a:bodyPr/>
          <a:lstStyle/>
          <a:p>
            <a:endParaRPr lang="en-SG"/>
          </a:p>
        </p:txBody>
      </p:sp>
      <p:sp>
        <p:nvSpPr>
          <p:cNvPr id="24" name="Text 18"/>
          <p:cNvSpPr/>
          <p:nvPr/>
        </p:nvSpPr>
        <p:spPr>
          <a:xfrm>
            <a:off x="1019770" y="4171713"/>
            <a:ext cx="215713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Rank, don't classify</a:t>
            </a:r>
            <a:endParaRPr lang="en-US" sz="1600" dirty="0"/>
          </a:p>
        </p:txBody>
      </p:sp>
      <p:sp>
        <p:nvSpPr>
          <p:cNvPr id="25" name="Text 19"/>
          <p:cNvSpPr/>
          <p:nvPr/>
        </p:nvSpPr>
        <p:spPr>
          <a:xfrm>
            <a:off x="1019770" y="4491693"/>
            <a:ext cx="2157139"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Optimise PR-AUC and hand the bank a score; the cut-off is an operating decision.</a:t>
            </a:r>
            <a:endParaRPr lang="en-US" sz="1300" dirty="0"/>
          </a:p>
        </p:txBody>
      </p:sp>
      <p:sp>
        <p:nvSpPr>
          <p:cNvPr id="26" name="Shape 20"/>
          <p:cNvSpPr/>
          <p:nvPr/>
        </p:nvSpPr>
        <p:spPr>
          <a:xfrm>
            <a:off x="3502005" y="3967897"/>
            <a:ext cx="2501940" cy="1618913"/>
          </a:xfrm>
          <a:prstGeom prst="roundRect">
            <a:avLst>
              <a:gd name="adj" fmla="val 6080"/>
            </a:avLst>
          </a:prstGeom>
          <a:solidFill>
            <a:srgbClr val="FCFBF7"/>
          </a:solidFill>
          <a:ln w="6350">
            <a:solidFill>
              <a:srgbClr val="DCD5C4"/>
            </a:solidFill>
            <a:prstDash val="solid"/>
          </a:ln>
        </p:spPr>
        <p:txBody>
          <a:bodyPr/>
          <a:lstStyle/>
          <a:p>
            <a:endParaRPr lang="en-SG"/>
          </a:p>
        </p:txBody>
      </p:sp>
      <p:sp>
        <p:nvSpPr>
          <p:cNvPr id="27" name="Text 21"/>
          <p:cNvSpPr/>
          <p:nvPr/>
        </p:nvSpPr>
        <p:spPr>
          <a:xfrm>
            <a:off x="3705820" y="4171713"/>
            <a:ext cx="215713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No peeking</a:t>
            </a:r>
            <a:endParaRPr lang="en-US" sz="1600" dirty="0"/>
          </a:p>
        </p:txBody>
      </p:sp>
      <p:sp>
        <p:nvSpPr>
          <p:cNvPr id="28" name="Text 22"/>
          <p:cNvSpPr/>
          <p:nvPr/>
        </p:nvSpPr>
        <p:spPr>
          <a:xfrm>
            <a:off x="3705820" y="4491693"/>
            <a:ext cx="2157139"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Every imputer, encoder and helper model is refitted inside each training fold.</a:t>
            </a:r>
            <a:endParaRPr lang="en-US" sz="1300" dirty="0"/>
          </a:p>
        </p:txBody>
      </p:sp>
      <p:sp>
        <p:nvSpPr>
          <p:cNvPr id="29" name="Shape 23"/>
          <p:cNvSpPr/>
          <p:nvPr/>
        </p:nvSpPr>
        <p:spPr>
          <a:xfrm>
            <a:off x="6188055" y="3967897"/>
            <a:ext cx="2501940" cy="1618913"/>
          </a:xfrm>
          <a:prstGeom prst="roundRect">
            <a:avLst>
              <a:gd name="adj" fmla="val 6080"/>
            </a:avLst>
          </a:prstGeom>
          <a:solidFill>
            <a:srgbClr val="FCFBF7"/>
          </a:solidFill>
          <a:ln w="6350">
            <a:solidFill>
              <a:srgbClr val="DCD5C4"/>
            </a:solidFill>
            <a:prstDash val="solid"/>
          </a:ln>
        </p:spPr>
        <p:txBody>
          <a:bodyPr/>
          <a:lstStyle/>
          <a:p>
            <a:endParaRPr lang="en-SG"/>
          </a:p>
        </p:txBody>
      </p:sp>
      <p:sp>
        <p:nvSpPr>
          <p:cNvPr id="30" name="Text 24"/>
          <p:cNvSpPr/>
          <p:nvPr/>
        </p:nvSpPr>
        <p:spPr>
          <a:xfrm>
            <a:off x="6391871" y="4171713"/>
            <a:ext cx="215713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Rules before results</a:t>
            </a:r>
            <a:endParaRPr lang="en-US" sz="1600" dirty="0"/>
          </a:p>
        </p:txBody>
      </p:sp>
      <p:sp>
        <p:nvSpPr>
          <p:cNvPr id="31" name="Text 25"/>
          <p:cNvSpPr/>
          <p:nvPr/>
        </p:nvSpPr>
        <p:spPr>
          <a:xfrm>
            <a:off x="6391871" y="4491693"/>
            <a:ext cx="2157139" cy="91670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Each experiment's pass mark was written down before it ran. We kept the failures.</a:t>
            </a:r>
            <a:endParaRPr lang="en-US" sz="1300" dirty="0"/>
          </a:p>
        </p:txBody>
      </p:sp>
      <p:sp>
        <p:nvSpPr>
          <p:cNvPr id="32" name="Shape 26"/>
          <p:cNvSpPr/>
          <p:nvPr/>
        </p:nvSpPr>
        <p:spPr>
          <a:xfrm>
            <a:off x="8874106" y="3967897"/>
            <a:ext cx="2501940" cy="1618913"/>
          </a:xfrm>
          <a:prstGeom prst="roundRect">
            <a:avLst>
              <a:gd name="adj" fmla="val 6080"/>
            </a:avLst>
          </a:prstGeom>
          <a:solidFill>
            <a:srgbClr val="FCFBF7"/>
          </a:solidFill>
          <a:ln w="6350">
            <a:solidFill>
              <a:srgbClr val="DCD5C4"/>
            </a:solidFill>
            <a:prstDash val="solid"/>
          </a:ln>
        </p:spPr>
        <p:txBody>
          <a:bodyPr/>
          <a:lstStyle/>
          <a:p>
            <a:endParaRPr lang="en-SG"/>
          </a:p>
        </p:txBody>
      </p:sp>
      <p:sp>
        <p:nvSpPr>
          <p:cNvPr id="33" name="Text 27"/>
          <p:cNvSpPr/>
          <p:nvPr/>
        </p:nvSpPr>
        <p:spPr>
          <a:xfrm>
            <a:off x="9077920" y="4171713"/>
            <a:ext cx="215713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Exact replay</a:t>
            </a:r>
            <a:endParaRPr lang="en-US" sz="1600" dirty="0"/>
          </a:p>
        </p:txBody>
      </p:sp>
      <p:sp>
        <p:nvSpPr>
          <p:cNvPr id="34" name="Text 28"/>
          <p:cNvSpPr/>
          <p:nvPr/>
        </p:nvSpPr>
        <p:spPr>
          <a:xfrm>
            <a:off x="9077920" y="4491693"/>
            <a:ext cx="2157139" cy="916702"/>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Re-running the uploaded package from scratch reproduces the scored CSV: max difference 0.0.</a:t>
            </a:r>
            <a:endParaRPr lang="en-US" sz="1300" dirty="0"/>
          </a:p>
        </p:txBody>
      </p:sp>
      <p:sp>
        <p:nvSpPr>
          <p:cNvPr id="35" name="Text 29"/>
          <p:cNvSpPr/>
          <p:nvPr/>
        </p:nvSpPr>
        <p:spPr>
          <a:xfrm>
            <a:off x="812780" y="6238281"/>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upload_2756/prediction.ipynb: p = 0.63·LR + 0.27·CatBoost + 0.10·TAN; fresh replay 4 Oct</a:t>
            </a:r>
            <a:endParaRPr lang="en-US" sz="1200" dirty="0"/>
          </a:p>
        </p:txBody>
      </p:sp>
      <p:sp>
        <p:nvSpPr>
          <p:cNvPr id="36" name="Text 30"/>
          <p:cNvSpPr/>
          <p:nvPr/>
        </p:nvSpPr>
        <p:spPr>
          <a:xfrm>
            <a:off x="10566420" y="623828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THE DATA</a:t>
            </a:r>
            <a:endParaRPr lang="en-US" sz="1200" dirty="0"/>
          </a:p>
        </p:txBody>
      </p:sp>
      <p:sp>
        <p:nvSpPr>
          <p:cNvPr id="3" name="Text 1"/>
          <p:cNvSpPr>
            <a:spLocks noGrp="1"/>
          </p:cNvSpPr>
          <p:nvPr>
            <p:ph type="title"/>
          </p:nvPr>
        </p:nvSpPr>
        <p:spPr>
          <a:xfrm>
            <a:off x="812780" y="1102339"/>
            <a:ext cx="10883434"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Small, clean, and missing the one thing fraud teams rely on</a:t>
            </a:r>
            <a:endParaRPr lang="en-US" sz="3000" dirty="0"/>
          </a:p>
        </p:txBody>
      </p:sp>
      <p:sp>
        <p:nvSpPr>
          <p:cNvPr id="4" name="Shape 2"/>
          <p:cNvSpPr/>
          <p:nvPr/>
        </p:nvSpPr>
        <p:spPr>
          <a:xfrm>
            <a:off x="812780" y="2248514"/>
            <a:ext cx="5257860" cy="0"/>
          </a:xfrm>
          <a:prstGeom prst="line">
            <a:avLst/>
          </a:prstGeom>
          <a:noFill/>
          <a:ln w="6350">
            <a:solidFill>
              <a:srgbClr val="DCD5C4"/>
            </a:solidFill>
            <a:prstDash val="solid"/>
          </a:ln>
        </p:spPr>
        <p:txBody>
          <a:bodyPr/>
          <a:lstStyle/>
          <a:p>
            <a:endParaRPr lang="en-SG"/>
          </a:p>
        </p:txBody>
      </p:sp>
      <p:sp>
        <p:nvSpPr>
          <p:cNvPr id="5" name="Text 3"/>
          <p:cNvSpPr/>
          <p:nvPr/>
        </p:nvSpPr>
        <p:spPr>
          <a:xfrm>
            <a:off x="812780" y="2363450"/>
            <a:ext cx="1447760" cy="48760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Grain</a:t>
            </a:r>
            <a:endParaRPr lang="en-US" sz="1300" dirty="0"/>
          </a:p>
        </p:txBody>
      </p:sp>
      <p:sp>
        <p:nvSpPr>
          <p:cNvPr id="6" name="Text 4"/>
          <p:cNvSpPr/>
          <p:nvPr/>
        </p:nvSpPr>
        <p:spPr>
          <a:xfrm>
            <a:off x="2362141" y="2363450"/>
            <a:ext cx="3819754"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One row per transaction; IDs unique; 0 duplicate rows</a:t>
            </a:r>
            <a:endParaRPr lang="en-US" sz="1300" dirty="0"/>
          </a:p>
        </p:txBody>
      </p:sp>
      <p:sp>
        <p:nvSpPr>
          <p:cNvPr id="7" name="Shape 5"/>
          <p:cNvSpPr/>
          <p:nvPr/>
        </p:nvSpPr>
        <p:spPr>
          <a:xfrm>
            <a:off x="812780" y="2943126"/>
            <a:ext cx="5257860" cy="0"/>
          </a:xfrm>
          <a:prstGeom prst="line">
            <a:avLst/>
          </a:prstGeom>
          <a:noFill/>
          <a:ln w="6350">
            <a:solidFill>
              <a:srgbClr val="DCD5C4"/>
            </a:solidFill>
            <a:prstDash val="solid"/>
          </a:ln>
        </p:spPr>
        <p:txBody>
          <a:bodyPr/>
          <a:lstStyle/>
          <a:p>
            <a:endParaRPr lang="en-SG"/>
          </a:p>
        </p:txBody>
      </p:sp>
      <p:sp>
        <p:nvSpPr>
          <p:cNvPr id="8" name="Text 6"/>
          <p:cNvSpPr/>
          <p:nvPr/>
        </p:nvSpPr>
        <p:spPr>
          <a:xfrm>
            <a:off x="812780" y="3058060"/>
            <a:ext cx="1447760" cy="2565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Size</a:t>
            </a:r>
            <a:endParaRPr lang="en-US" sz="1300" dirty="0"/>
          </a:p>
        </p:txBody>
      </p:sp>
      <p:sp>
        <p:nvSpPr>
          <p:cNvPr id="9" name="Text 7"/>
          <p:cNvSpPr/>
          <p:nvPr/>
        </p:nvSpPr>
        <p:spPr>
          <a:xfrm>
            <a:off x="2362141" y="3058060"/>
            <a:ext cx="381975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20,000 train (353 fraud) · 12,000 test</a:t>
            </a:r>
            <a:endParaRPr lang="en-US" sz="1300" dirty="0"/>
          </a:p>
        </p:txBody>
      </p:sp>
      <p:sp>
        <p:nvSpPr>
          <p:cNvPr id="10" name="Shape 8"/>
          <p:cNvSpPr/>
          <p:nvPr/>
        </p:nvSpPr>
        <p:spPr>
          <a:xfrm>
            <a:off x="812780" y="3406635"/>
            <a:ext cx="5257860" cy="0"/>
          </a:xfrm>
          <a:prstGeom prst="line">
            <a:avLst/>
          </a:prstGeom>
          <a:noFill/>
          <a:ln w="6350">
            <a:solidFill>
              <a:srgbClr val="DCD5C4"/>
            </a:solidFill>
            <a:prstDash val="solid"/>
          </a:ln>
        </p:spPr>
        <p:txBody>
          <a:bodyPr/>
          <a:lstStyle/>
          <a:p>
            <a:endParaRPr lang="en-SG"/>
          </a:p>
        </p:txBody>
      </p:sp>
      <p:sp>
        <p:nvSpPr>
          <p:cNvPr id="11" name="Text 9"/>
          <p:cNvSpPr/>
          <p:nvPr/>
        </p:nvSpPr>
        <p:spPr>
          <a:xfrm>
            <a:off x="812780" y="3521571"/>
            <a:ext cx="1447760" cy="2565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Predictors</a:t>
            </a:r>
            <a:endParaRPr lang="en-US" sz="1300" dirty="0"/>
          </a:p>
        </p:txBody>
      </p:sp>
      <p:sp>
        <p:nvSpPr>
          <p:cNvPr id="12" name="Text 10"/>
          <p:cNvSpPr/>
          <p:nvPr/>
        </p:nvSpPr>
        <p:spPr>
          <a:xfrm>
            <a:off x="2362141" y="3521571"/>
            <a:ext cx="381975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10: 3 categorical, 7 numeric</a:t>
            </a:r>
            <a:endParaRPr lang="en-US" sz="1300" dirty="0"/>
          </a:p>
        </p:txBody>
      </p:sp>
      <p:sp>
        <p:nvSpPr>
          <p:cNvPr id="13" name="Shape 11"/>
          <p:cNvSpPr/>
          <p:nvPr/>
        </p:nvSpPr>
        <p:spPr>
          <a:xfrm>
            <a:off x="812780" y="3870145"/>
            <a:ext cx="5257860" cy="0"/>
          </a:xfrm>
          <a:prstGeom prst="line">
            <a:avLst/>
          </a:prstGeom>
          <a:noFill/>
          <a:ln w="6350">
            <a:solidFill>
              <a:srgbClr val="DCD5C4"/>
            </a:solidFill>
            <a:prstDash val="solid"/>
          </a:ln>
        </p:spPr>
        <p:txBody>
          <a:bodyPr/>
          <a:lstStyle/>
          <a:p>
            <a:endParaRPr lang="en-SG"/>
          </a:p>
        </p:txBody>
      </p:sp>
      <p:sp>
        <p:nvSpPr>
          <p:cNvPr id="14" name="Text 12"/>
          <p:cNvSpPr/>
          <p:nvPr/>
        </p:nvSpPr>
        <p:spPr>
          <a:xfrm>
            <a:off x="812780" y="3985081"/>
            <a:ext cx="1447760" cy="2565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Not included</a:t>
            </a:r>
            <a:endParaRPr lang="en-US" sz="1300" dirty="0"/>
          </a:p>
        </p:txBody>
      </p:sp>
      <p:sp>
        <p:nvSpPr>
          <p:cNvPr id="15" name="Text 13"/>
          <p:cNvSpPr/>
          <p:nvPr/>
        </p:nvSpPr>
        <p:spPr>
          <a:xfrm>
            <a:off x="2362141" y="3985081"/>
            <a:ext cx="381975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Customer ID and timestamp (hour of day only)</a:t>
            </a:r>
            <a:endParaRPr lang="en-US" sz="1300" dirty="0"/>
          </a:p>
        </p:txBody>
      </p:sp>
      <p:sp>
        <p:nvSpPr>
          <p:cNvPr id="16" name="Shape 14"/>
          <p:cNvSpPr/>
          <p:nvPr/>
        </p:nvSpPr>
        <p:spPr>
          <a:xfrm>
            <a:off x="812780" y="4333656"/>
            <a:ext cx="5257860" cy="0"/>
          </a:xfrm>
          <a:prstGeom prst="line">
            <a:avLst/>
          </a:prstGeom>
          <a:noFill/>
          <a:ln w="6350">
            <a:solidFill>
              <a:srgbClr val="DCD5C4"/>
            </a:solidFill>
            <a:prstDash val="solid"/>
          </a:ln>
        </p:spPr>
        <p:txBody>
          <a:bodyPr/>
          <a:lstStyle/>
          <a:p>
            <a:endParaRPr lang="en-SG"/>
          </a:p>
        </p:txBody>
      </p:sp>
      <p:sp>
        <p:nvSpPr>
          <p:cNvPr id="17" name="Text 15"/>
          <p:cNvSpPr/>
          <p:nvPr/>
        </p:nvSpPr>
        <p:spPr>
          <a:xfrm>
            <a:off x="812780" y="4448590"/>
            <a:ext cx="1447760" cy="48760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Caps</a:t>
            </a:r>
            <a:endParaRPr lang="en-US" sz="1300" dirty="0"/>
          </a:p>
        </p:txBody>
      </p:sp>
      <p:sp>
        <p:nvSpPr>
          <p:cNvPr id="18" name="Text 16"/>
          <p:cNvSpPr/>
          <p:nvPr/>
        </p:nvSpPr>
        <p:spPr>
          <a:xfrm>
            <a:off x="2362141" y="4448590"/>
            <a:ext cx="3819754"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account_age capped at 4,000 days (1.77% of rows)</a:t>
            </a:r>
            <a:endParaRPr lang="en-US" sz="1300" dirty="0"/>
          </a:p>
        </p:txBody>
      </p:sp>
      <p:sp>
        <p:nvSpPr>
          <p:cNvPr id="19" name="Shape 17"/>
          <p:cNvSpPr/>
          <p:nvPr/>
        </p:nvSpPr>
        <p:spPr>
          <a:xfrm>
            <a:off x="6429395" y="2248514"/>
            <a:ext cx="4946650" cy="2676128"/>
          </a:xfrm>
          <a:prstGeom prst="roundRect">
            <a:avLst>
              <a:gd name="adj" fmla="val 3678"/>
            </a:avLst>
          </a:prstGeom>
          <a:solidFill>
            <a:srgbClr val="FCFBF7"/>
          </a:solidFill>
          <a:ln w="6350">
            <a:solidFill>
              <a:srgbClr val="DCD5C4"/>
            </a:solidFill>
            <a:prstDash val="solid"/>
          </a:ln>
        </p:spPr>
        <p:txBody>
          <a:bodyPr/>
          <a:lstStyle/>
          <a:p>
            <a:endParaRPr lang="en-SG"/>
          </a:p>
        </p:txBody>
      </p:sp>
      <p:sp>
        <p:nvSpPr>
          <p:cNvPr id="20" name="Text 18"/>
          <p:cNvSpPr/>
          <p:nvPr/>
        </p:nvSpPr>
        <p:spPr>
          <a:xfrm>
            <a:off x="6658630" y="2477750"/>
            <a:ext cx="462282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Test has 3× more gaps</a:t>
            </a:r>
            <a:endParaRPr lang="en-US" sz="1600" dirty="0"/>
          </a:p>
        </p:txBody>
      </p:sp>
      <p:sp>
        <p:nvSpPr>
          <p:cNvPr id="21" name="Text 19"/>
          <p:cNvSpPr/>
          <p:nvPr/>
        </p:nvSpPr>
        <p:spPr>
          <a:xfrm>
            <a:off x="6607830" y="2797730"/>
            <a:ext cx="1511280" cy="25650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34C58"/>
                </a:solidFill>
                <a:latin typeface="IBM Plex Sans" pitchFamily="34" charset="0"/>
                <a:ea typeface="IBM Plex Sans" pitchFamily="34" charset="-122"/>
                <a:cs typeface="IBM Plex Sans" pitchFamily="34" charset="-120"/>
              </a:rPr>
              <a:t>Train, any gap</a:t>
            </a:r>
            <a:endParaRPr lang="en-US" sz="1300" dirty="0"/>
          </a:p>
        </p:txBody>
      </p:sp>
      <p:sp>
        <p:nvSpPr>
          <p:cNvPr id="22" name="Shape 20"/>
          <p:cNvSpPr/>
          <p:nvPr/>
        </p:nvSpPr>
        <p:spPr>
          <a:xfrm>
            <a:off x="8246090" y="2814875"/>
            <a:ext cx="666750" cy="196810"/>
          </a:xfrm>
          <a:prstGeom prst="roundRect">
            <a:avLst>
              <a:gd name="adj" fmla="val 12906"/>
            </a:avLst>
          </a:prstGeom>
          <a:solidFill>
            <a:srgbClr val="A9BCCD"/>
          </a:solidFill>
          <a:ln/>
        </p:spPr>
        <p:txBody>
          <a:bodyPr/>
          <a:lstStyle/>
          <a:p>
            <a:endParaRPr lang="en-SG"/>
          </a:p>
        </p:txBody>
      </p:sp>
      <p:sp>
        <p:nvSpPr>
          <p:cNvPr id="23" name="Text 21"/>
          <p:cNvSpPr/>
          <p:nvPr/>
        </p:nvSpPr>
        <p:spPr>
          <a:xfrm>
            <a:off x="9014401" y="2797730"/>
            <a:ext cx="555804" cy="25650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4.88%</a:t>
            </a:r>
            <a:endParaRPr lang="en-US" sz="1300" dirty="0"/>
          </a:p>
        </p:txBody>
      </p:sp>
      <p:sp>
        <p:nvSpPr>
          <p:cNvPr id="24" name="Text 22"/>
          <p:cNvSpPr/>
          <p:nvPr/>
        </p:nvSpPr>
        <p:spPr>
          <a:xfrm>
            <a:off x="6607830" y="3105031"/>
            <a:ext cx="1511280" cy="25650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34C58"/>
                </a:solidFill>
                <a:latin typeface="IBM Plex Sans" pitchFamily="34" charset="0"/>
                <a:ea typeface="IBM Plex Sans" pitchFamily="34" charset="-122"/>
                <a:cs typeface="IBM Plex Sans" pitchFamily="34" charset="-120"/>
              </a:rPr>
              <a:t>Test, any gap</a:t>
            </a:r>
            <a:endParaRPr lang="en-US" sz="1300" dirty="0"/>
          </a:p>
        </p:txBody>
      </p:sp>
      <p:sp>
        <p:nvSpPr>
          <p:cNvPr id="25" name="Shape 23"/>
          <p:cNvSpPr/>
          <p:nvPr/>
        </p:nvSpPr>
        <p:spPr>
          <a:xfrm>
            <a:off x="8246090" y="3122175"/>
            <a:ext cx="1885950" cy="196810"/>
          </a:xfrm>
          <a:prstGeom prst="roundRect">
            <a:avLst>
              <a:gd name="adj" fmla="val 12906"/>
            </a:avLst>
          </a:prstGeom>
          <a:solidFill>
            <a:srgbClr val="B44D19"/>
          </a:solidFill>
          <a:ln/>
        </p:spPr>
        <p:txBody>
          <a:bodyPr/>
          <a:lstStyle/>
          <a:p>
            <a:endParaRPr lang="en-SG"/>
          </a:p>
        </p:txBody>
      </p:sp>
      <p:sp>
        <p:nvSpPr>
          <p:cNvPr id="26" name="Text 24"/>
          <p:cNvSpPr/>
          <p:nvPr/>
        </p:nvSpPr>
        <p:spPr>
          <a:xfrm>
            <a:off x="10233601" y="3105031"/>
            <a:ext cx="654864" cy="25650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13.86%</a:t>
            </a:r>
            <a:endParaRPr lang="en-US" sz="1300" dirty="0"/>
          </a:p>
        </p:txBody>
      </p:sp>
      <p:sp>
        <p:nvSpPr>
          <p:cNvPr id="27" name="Text 25"/>
          <p:cNvSpPr/>
          <p:nvPr/>
        </p:nvSpPr>
        <p:spPr>
          <a:xfrm>
            <a:off x="6607830" y="3412331"/>
            <a:ext cx="1511280" cy="25650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34C58"/>
                </a:solidFill>
                <a:latin typeface="IBM Plex Sans" pitchFamily="34" charset="0"/>
                <a:ea typeface="IBM Plex Sans" pitchFamily="34" charset="-122"/>
                <a:cs typeface="IBM Plex Sans" pitchFamily="34" charset="-120"/>
              </a:rPr>
              <a:t>Train, 2+ gaps</a:t>
            </a:r>
            <a:endParaRPr lang="en-US" sz="1300" dirty="0"/>
          </a:p>
        </p:txBody>
      </p:sp>
      <p:sp>
        <p:nvSpPr>
          <p:cNvPr id="28" name="Shape 26"/>
          <p:cNvSpPr/>
          <p:nvPr/>
        </p:nvSpPr>
        <p:spPr>
          <a:xfrm>
            <a:off x="8246090" y="3429476"/>
            <a:ext cx="44410" cy="196810"/>
          </a:xfrm>
          <a:prstGeom prst="roundRect">
            <a:avLst>
              <a:gd name="adj" fmla="val 50000"/>
            </a:avLst>
          </a:prstGeom>
          <a:solidFill>
            <a:srgbClr val="A9BCCD"/>
          </a:solidFill>
          <a:ln/>
        </p:spPr>
        <p:txBody>
          <a:bodyPr/>
          <a:lstStyle/>
          <a:p>
            <a:endParaRPr lang="en-SG"/>
          </a:p>
        </p:txBody>
      </p:sp>
      <p:sp>
        <p:nvSpPr>
          <p:cNvPr id="29" name="Text 27"/>
          <p:cNvSpPr/>
          <p:nvPr/>
        </p:nvSpPr>
        <p:spPr>
          <a:xfrm>
            <a:off x="8392061" y="3412331"/>
            <a:ext cx="555804" cy="25650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0.31%</a:t>
            </a:r>
            <a:endParaRPr lang="en-US" sz="1300" dirty="0"/>
          </a:p>
        </p:txBody>
      </p:sp>
      <p:sp>
        <p:nvSpPr>
          <p:cNvPr id="30" name="Text 28"/>
          <p:cNvSpPr/>
          <p:nvPr/>
        </p:nvSpPr>
        <p:spPr>
          <a:xfrm>
            <a:off x="6607830" y="3719630"/>
            <a:ext cx="1511280" cy="25650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434C58"/>
                </a:solidFill>
                <a:latin typeface="IBM Plex Sans" pitchFamily="34" charset="0"/>
                <a:ea typeface="IBM Plex Sans" pitchFamily="34" charset="-122"/>
                <a:cs typeface="IBM Plex Sans" pitchFamily="34" charset="-120"/>
              </a:rPr>
              <a:t>Test, 2+ gaps</a:t>
            </a:r>
            <a:endParaRPr lang="en-US" sz="1300" dirty="0"/>
          </a:p>
        </p:txBody>
      </p:sp>
      <p:sp>
        <p:nvSpPr>
          <p:cNvPr id="31" name="Shape 29"/>
          <p:cNvSpPr/>
          <p:nvPr/>
        </p:nvSpPr>
        <p:spPr>
          <a:xfrm>
            <a:off x="8246090" y="3736777"/>
            <a:ext cx="527030" cy="196810"/>
          </a:xfrm>
          <a:prstGeom prst="roundRect">
            <a:avLst>
              <a:gd name="adj" fmla="val 12906"/>
            </a:avLst>
          </a:prstGeom>
          <a:solidFill>
            <a:srgbClr val="B44D19"/>
          </a:solidFill>
          <a:ln/>
        </p:spPr>
        <p:txBody>
          <a:bodyPr/>
          <a:lstStyle/>
          <a:p>
            <a:endParaRPr lang="en-SG"/>
          </a:p>
        </p:txBody>
      </p:sp>
      <p:sp>
        <p:nvSpPr>
          <p:cNvPr id="32" name="Text 30"/>
          <p:cNvSpPr/>
          <p:nvPr/>
        </p:nvSpPr>
        <p:spPr>
          <a:xfrm>
            <a:off x="8874681" y="3719630"/>
            <a:ext cx="555804" cy="256500"/>
          </a:xfrm>
          <a:prstGeom prst="rect">
            <a:avLst/>
          </a:prstGeom>
          <a:noFill/>
          <a:ln/>
        </p:spPr>
        <p:txBody>
          <a:bodyPr wrap="none" lIns="0" tIns="0" rIns="0" bIns="0" rtlCol="0" anchor="t">
            <a:normAutofit/>
          </a:bodyPr>
          <a:lstStyle/>
          <a:p>
            <a:pPr marL="0" indent="0" algn="l">
              <a:lnSpc>
                <a:spcPts val="1820"/>
              </a:lnSpc>
              <a:buNone/>
            </a:pPr>
            <a:r>
              <a:rPr lang="en-US" sz="1300" b="1" dirty="0">
                <a:solidFill>
                  <a:srgbClr val="17212C"/>
                </a:solidFill>
                <a:latin typeface="IBM Plex Sans" pitchFamily="34" charset="0"/>
                <a:ea typeface="IBM Plex Sans" pitchFamily="34" charset="-122"/>
                <a:cs typeface="IBM Plex Sans" pitchFamily="34" charset="-120"/>
              </a:rPr>
              <a:t>3.88%</a:t>
            </a:r>
            <a:endParaRPr lang="en-US" sz="1300" dirty="0"/>
          </a:p>
        </p:txBody>
      </p:sp>
      <p:sp>
        <p:nvSpPr>
          <p:cNvPr id="33" name="Text 31"/>
          <p:cNvSpPr/>
          <p:nvPr/>
        </p:nvSpPr>
        <p:spPr>
          <a:xfrm>
            <a:off x="6658630" y="4026931"/>
            <a:ext cx="4622826"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Fraud rate in incomplete rows: 2.05% (20/975) vs 1.75% in complete rows. We keep every row: in-fold median plus an explicit “missing” level.</a:t>
            </a:r>
            <a:endParaRPr lang="en-US" sz="1300" dirty="0"/>
          </a:p>
        </p:txBody>
      </p:sp>
      <p:sp>
        <p:nvSpPr>
          <p:cNvPr id="34" name="Text 32"/>
          <p:cNvSpPr/>
          <p:nvPr/>
        </p:nvSpPr>
        <p:spPr>
          <a:xfrm>
            <a:off x="812780" y="6238278"/>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train/test CSVs: per-column gaps 0.54–0.80% train vs 2.04–2.44% test; 0 duplicates</a:t>
            </a:r>
            <a:endParaRPr lang="en-US" sz="1200" dirty="0"/>
          </a:p>
        </p:txBody>
      </p:sp>
      <p:sp>
        <p:nvSpPr>
          <p:cNvPr id="35" name="Text 33"/>
          <p:cNvSpPr/>
          <p:nvPr/>
        </p:nvSpPr>
        <p:spPr>
          <a:xfrm>
            <a:off x="10566420" y="6238278"/>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FINDINGS 1–3</a:t>
            </a:r>
            <a:endParaRPr lang="en-US" sz="1200" dirty="0"/>
          </a:p>
        </p:txBody>
      </p:sp>
      <p:sp>
        <p:nvSpPr>
          <p:cNvPr id="3" name="Text 1"/>
          <p:cNvSpPr>
            <a:spLocks noGrp="1"/>
          </p:cNvSpPr>
          <p:nvPr>
            <p:ph type="title"/>
          </p:nvPr>
        </p:nvSpPr>
        <p:spPr>
          <a:xfrm>
            <a:off x="812780" y="1102342"/>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Risks stack, and one corner is worse than predicted</a:t>
            </a:r>
            <a:endParaRPr lang="en-US" sz="3000" dirty="0"/>
          </a:p>
        </p:txBody>
      </p:sp>
      <p:sp>
        <p:nvSpPr>
          <p:cNvPr id="4" name="Shape 2"/>
          <p:cNvSpPr/>
          <p:nvPr/>
        </p:nvSpPr>
        <p:spPr>
          <a:xfrm>
            <a:off x="815955" y="1778577"/>
            <a:ext cx="2978130" cy="1563251"/>
          </a:xfrm>
          <a:prstGeom prst="roundRect">
            <a:avLst>
              <a:gd name="adj" fmla="val 6296"/>
            </a:avLst>
          </a:prstGeom>
          <a:solidFill>
            <a:srgbClr val="FCFBF7"/>
          </a:solidFill>
          <a:ln w="6350">
            <a:solidFill>
              <a:srgbClr val="DCD5C4"/>
            </a:solidFill>
            <a:prstDash val="solid"/>
          </a:ln>
        </p:spPr>
        <p:txBody>
          <a:bodyPr/>
          <a:lstStyle/>
          <a:p>
            <a:endParaRPr lang="en-SG"/>
          </a:p>
        </p:txBody>
      </p:sp>
      <p:sp>
        <p:nvSpPr>
          <p:cNvPr id="5" name="Text 3"/>
          <p:cNvSpPr/>
          <p:nvPr/>
        </p:nvSpPr>
        <p:spPr>
          <a:xfrm>
            <a:off x="1019770" y="1982391"/>
            <a:ext cx="2771140"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26D"/>
                </a:solidFill>
                <a:latin typeface="IBM Plex Sans" pitchFamily="34" charset="0"/>
                <a:ea typeface="IBM Plex Sans" pitchFamily="34" charset="-122"/>
                <a:cs typeface="IBM Plex Sans" pitchFamily="34" charset="-120"/>
              </a:rPr>
              <a:t>Known device · account ≥ 90 days</a:t>
            </a:r>
            <a:endParaRPr lang="en-US" sz="1300" dirty="0"/>
          </a:p>
        </p:txBody>
      </p:sp>
      <p:sp>
        <p:nvSpPr>
          <p:cNvPr id="6" name="Text 4"/>
          <p:cNvSpPr/>
          <p:nvPr/>
        </p:nvSpPr>
        <p:spPr>
          <a:xfrm>
            <a:off x="1019770" y="2264271"/>
            <a:ext cx="264761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7212C"/>
                </a:solidFill>
                <a:latin typeface="Source Serif 4" pitchFamily="18" charset="0"/>
                <a:ea typeface="Source Serif 4" pitchFamily="18" charset="-122"/>
                <a:cs typeface="Source Serif 4" pitchFamily="18" charset="-120"/>
              </a:rPr>
              <a:t>1.09%</a:t>
            </a:r>
            <a:endParaRPr lang="en-US" sz="4800" dirty="0"/>
          </a:p>
        </p:txBody>
      </p:sp>
      <p:sp>
        <p:nvSpPr>
          <p:cNvPr id="7" name="Text 5"/>
          <p:cNvSpPr/>
          <p:nvPr/>
        </p:nvSpPr>
        <p:spPr>
          <a:xfrm>
            <a:off x="1019770" y="2924652"/>
            <a:ext cx="26476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Mono" pitchFamily="49" charset="0"/>
                <a:ea typeface="IBM Plex Mono" pitchFamily="49" charset="-122"/>
                <a:cs typeface="IBM Plex Mono" pitchFamily="49" charset="-120"/>
              </a:rPr>
              <a:t>174 / 15,925 fraud</a:t>
            </a:r>
            <a:endParaRPr lang="en-US" sz="1200" dirty="0"/>
          </a:p>
        </p:txBody>
      </p:sp>
      <p:sp>
        <p:nvSpPr>
          <p:cNvPr id="8" name="Shape 6"/>
          <p:cNvSpPr/>
          <p:nvPr/>
        </p:nvSpPr>
        <p:spPr>
          <a:xfrm>
            <a:off x="3927416" y="1778577"/>
            <a:ext cx="2978190" cy="1563251"/>
          </a:xfrm>
          <a:prstGeom prst="roundRect">
            <a:avLst>
              <a:gd name="adj" fmla="val 6296"/>
            </a:avLst>
          </a:prstGeom>
          <a:solidFill>
            <a:srgbClr val="FCFBF7"/>
          </a:solidFill>
          <a:ln w="6350">
            <a:solidFill>
              <a:srgbClr val="DCD5C4"/>
            </a:solidFill>
            <a:prstDash val="solid"/>
          </a:ln>
        </p:spPr>
        <p:txBody>
          <a:bodyPr/>
          <a:lstStyle/>
          <a:p>
            <a:endParaRPr lang="en-SG"/>
          </a:p>
        </p:txBody>
      </p:sp>
      <p:sp>
        <p:nvSpPr>
          <p:cNvPr id="9" name="Text 7"/>
          <p:cNvSpPr/>
          <p:nvPr/>
        </p:nvSpPr>
        <p:spPr>
          <a:xfrm>
            <a:off x="4131231" y="1982391"/>
            <a:ext cx="2771200"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26D"/>
                </a:solidFill>
                <a:latin typeface="IBM Plex Sans" pitchFamily="34" charset="0"/>
                <a:ea typeface="IBM Plex Sans" pitchFamily="34" charset="-122"/>
                <a:cs typeface="IBM Plex Sans" pitchFamily="34" charset="-120"/>
              </a:rPr>
              <a:t>Known device · account &lt; 90 days</a:t>
            </a:r>
            <a:endParaRPr lang="en-US" sz="1300" dirty="0"/>
          </a:p>
        </p:txBody>
      </p:sp>
      <p:sp>
        <p:nvSpPr>
          <p:cNvPr id="10" name="Text 8"/>
          <p:cNvSpPr/>
          <p:nvPr/>
        </p:nvSpPr>
        <p:spPr>
          <a:xfrm>
            <a:off x="4131231" y="2264271"/>
            <a:ext cx="264767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7212C"/>
                </a:solidFill>
                <a:latin typeface="Source Serif 4" pitchFamily="18" charset="0"/>
                <a:ea typeface="Source Serif 4" pitchFamily="18" charset="-122"/>
                <a:cs typeface="Source Serif 4" pitchFamily="18" charset="-120"/>
              </a:rPr>
              <a:t>2.05%</a:t>
            </a:r>
            <a:endParaRPr lang="en-US" sz="4800" dirty="0"/>
          </a:p>
        </p:txBody>
      </p:sp>
      <p:sp>
        <p:nvSpPr>
          <p:cNvPr id="11" name="Text 9"/>
          <p:cNvSpPr/>
          <p:nvPr/>
        </p:nvSpPr>
        <p:spPr>
          <a:xfrm>
            <a:off x="4131231" y="2924652"/>
            <a:ext cx="2647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Mono" pitchFamily="49" charset="0"/>
                <a:ea typeface="IBM Plex Mono" pitchFamily="49" charset="-122"/>
                <a:cs typeface="IBM Plex Mono" pitchFamily="49" charset="-120"/>
              </a:rPr>
              <a:t>44 / 2,151 fraud</a:t>
            </a:r>
            <a:endParaRPr lang="en-US" sz="1200" dirty="0"/>
          </a:p>
        </p:txBody>
      </p:sp>
      <p:sp>
        <p:nvSpPr>
          <p:cNvPr id="12" name="Shape 10"/>
          <p:cNvSpPr/>
          <p:nvPr/>
        </p:nvSpPr>
        <p:spPr>
          <a:xfrm>
            <a:off x="815955" y="3475158"/>
            <a:ext cx="2978130" cy="1563251"/>
          </a:xfrm>
          <a:prstGeom prst="roundRect">
            <a:avLst>
              <a:gd name="adj" fmla="val 6296"/>
            </a:avLst>
          </a:prstGeom>
          <a:solidFill>
            <a:srgbClr val="FCFBF7"/>
          </a:solidFill>
          <a:ln w="6350">
            <a:solidFill>
              <a:srgbClr val="DCD5C4"/>
            </a:solidFill>
            <a:prstDash val="solid"/>
          </a:ln>
        </p:spPr>
        <p:txBody>
          <a:bodyPr/>
          <a:lstStyle/>
          <a:p>
            <a:endParaRPr lang="en-SG"/>
          </a:p>
        </p:txBody>
      </p:sp>
      <p:sp>
        <p:nvSpPr>
          <p:cNvPr id="13" name="Text 11"/>
          <p:cNvSpPr/>
          <p:nvPr/>
        </p:nvSpPr>
        <p:spPr>
          <a:xfrm>
            <a:off x="1019770" y="3678972"/>
            <a:ext cx="2647615"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A626D"/>
                </a:solidFill>
                <a:latin typeface="IBM Plex Sans" pitchFamily="34" charset="0"/>
                <a:ea typeface="IBM Plex Sans" pitchFamily="34" charset="-122"/>
                <a:cs typeface="IBM Plex Sans" pitchFamily="34" charset="-120"/>
              </a:rPr>
              <a:t>New device · account ≥ 90 days</a:t>
            </a:r>
            <a:endParaRPr lang="en-US" sz="1300" dirty="0"/>
          </a:p>
        </p:txBody>
      </p:sp>
      <p:sp>
        <p:nvSpPr>
          <p:cNvPr id="14" name="Text 12"/>
          <p:cNvSpPr/>
          <p:nvPr/>
        </p:nvSpPr>
        <p:spPr>
          <a:xfrm>
            <a:off x="1019770" y="3960853"/>
            <a:ext cx="264761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17212C"/>
                </a:solidFill>
                <a:latin typeface="Source Serif 4" pitchFamily="18" charset="0"/>
                <a:ea typeface="Source Serif 4" pitchFamily="18" charset="-122"/>
                <a:cs typeface="Source Serif 4" pitchFamily="18" charset="-120"/>
              </a:rPr>
              <a:t>4.63%</a:t>
            </a:r>
            <a:endParaRPr lang="en-US" sz="4800" dirty="0"/>
          </a:p>
        </p:txBody>
      </p:sp>
      <p:sp>
        <p:nvSpPr>
          <p:cNvPr id="15" name="Text 13"/>
          <p:cNvSpPr/>
          <p:nvPr/>
        </p:nvSpPr>
        <p:spPr>
          <a:xfrm>
            <a:off x="1019770" y="4621234"/>
            <a:ext cx="264761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Mono" pitchFamily="49" charset="0"/>
                <a:ea typeface="IBM Plex Mono" pitchFamily="49" charset="-122"/>
                <a:cs typeface="IBM Plex Mono" pitchFamily="49" charset="-120"/>
              </a:rPr>
              <a:t>66 / 1,425 fraud</a:t>
            </a:r>
            <a:endParaRPr lang="en-US" sz="1200" dirty="0"/>
          </a:p>
        </p:txBody>
      </p:sp>
      <p:sp>
        <p:nvSpPr>
          <p:cNvPr id="16" name="Shape 14"/>
          <p:cNvSpPr/>
          <p:nvPr/>
        </p:nvSpPr>
        <p:spPr>
          <a:xfrm>
            <a:off x="3927416" y="3475158"/>
            <a:ext cx="2978190" cy="1563251"/>
          </a:xfrm>
          <a:prstGeom prst="roundRect">
            <a:avLst>
              <a:gd name="adj" fmla="val 6296"/>
            </a:avLst>
          </a:prstGeom>
          <a:solidFill>
            <a:srgbClr val="B44D19"/>
          </a:solidFill>
          <a:ln w="6350">
            <a:solidFill>
              <a:srgbClr val="B44D19"/>
            </a:solidFill>
            <a:prstDash val="solid"/>
          </a:ln>
        </p:spPr>
        <p:txBody>
          <a:bodyPr/>
          <a:lstStyle/>
          <a:p>
            <a:endParaRPr lang="en-SG"/>
          </a:p>
        </p:txBody>
      </p:sp>
      <p:sp>
        <p:nvSpPr>
          <p:cNvPr id="17" name="Text 15"/>
          <p:cNvSpPr/>
          <p:nvPr/>
        </p:nvSpPr>
        <p:spPr>
          <a:xfrm>
            <a:off x="4131231" y="3678972"/>
            <a:ext cx="2647676"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BE3D3"/>
                </a:solidFill>
                <a:latin typeface="IBM Plex Sans" pitchFamily="34" charset="0"/>
                <a:ea typeface="IBM Plex Sans" pitchFamily="34" charset="-122"/>
                <a:cs typeface="IBM Plex Sans" pitchFamily="34" charset="-120"/>
              </a:rPr>
              <a:t>New device · account &lt; 90 days</a:t>
            </a:r>
            <a:endParaRPr lang="en-US" sz="1300" dirty="0"/>
          </a:p>
        </p:txBody>
      </p:sp>
      <p:sp>
        <p:nvSpPr>
          <p:cNvPr id="18" name="Text 16"/>
          <p:cNvSpPr/>
          <p:nvPr/>
        </p:nvSpPr>
        <p:spPr>
          <a:xfrm>
            <a:off x="4131231" y="3960853"/>
            <a:ext cx="264767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F8F2"/>
                </a:solidFill>
                <a:latin typeface="Source Serif 4" pitchFamily="18" charset="0"/>
                <a:ea typeface="Source Serif 4" pitchFamily="18" charset="-122"/>
                <a:cs typeface="Source Serif 4" pitchFamily="18" charset="-120"/>
              </a:rPr>
              <a:t>18.4%</a:t>
            </a:r>
            <a:endParaRPr lang="en-US" sz="4800" dirty="0"/>
          </a:p>
        </p:txBody>
      </p:sp>
      <p:sp>
        <p:nvSpPr>
          <p:cNvPr id="19" name="Text 17"/>
          <p:cNvSpPr/>
          <p:nvPr/>
        </p:nvSpPr>
        <p:spPr>
          <a:xfrm>
            <a:off x="4131231" y="4621234"/>
            <a:ext cx="26476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3D3"/>
                </a:solidFill>
                <a:latin typeface="IBM Plex Mono" pitchFamily="49" charset="0"/>
                <a:ea typeface="IBM Plex Mono" pitchFamily="49" charset="-122"/>
                <a:cs typeface="IBM Plex Mono" pitchFamily="49" charset="-120"/>
              </a:rPr>
              <a:t>69 / 375 fraud</a:t>
            </a:r>
            <a:endParaRPr lang="en-US" sz="1200" dirty="0"/>
          </a:p>
        </p:txBody>
      </p:sp>
      <p:sp>
        <p:nvSpPr>
          <p:cNvPr id="20" name="Shape 18"/>
          <p:cNvSpPr/>
          <p:nvPr/>
        </p:nvSpPr>
        <p:spPr>
          <a:xfrm>
            <a:off x="7216756" y="1778577"/>
            <a:ext cx="4159290" cy="4060289"/>
          </a:xfrm>
          <a:prstGeom prst="roundRect">
            <a:avLst>
              <a:gd name="adj" fmla="val 2424"/>
            </a:avLst>
          </a:prstGeom>
          <a:solidFill>
            <a:srgbClr val="FCFBF7"/>
          </a:solidFill>
          <a:ln w="6350">
            <a:solidFill>
              <a:srgbClr val="DCD5C4"/>
            </a:solidFill>
            <a:prstDash val="solid"/>
          </a:ln>
        </p:spPr>
        <p:txBody>
          <a:bodyPr/>
          <a:lstStyle/>
          <a:p>
            <a:endParaRPr lang="en-SG"/>
          </a:p>
        </p:txBody>
      </p:sp>
      <p:sp>
        <p:nvSpPr>
          <p:cNvPr id="21" name="Text 19"/>
          <p:cNvSpPr/>
          <p:nvPr/>
        </p:nvSpPr>
        <p:spPr>
          <a:xfrm>
            <a:off x="7420570" y="1982391"/>
            <a:ext cx="38642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A new device alone</a:t>
            </a:r>
            <a:endParaRPr lang="en-US" sz="1600" dirty="0"/>
          </a:p>
        </p:txBody>
      </p:sp>
      <p:sp>
        <p:nvSpPr>
          <p:cNvPr id="22" name="Text 20"/>
          <p:cNvSpPr/>
          <p:nvPr/>
        </p:nvSpPr>
        <p:spPr>
          <a:xfrm>
            <a:off x="7420570" y="2302371"/>
            <a:ext cx="3864209"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7.5% fraud vs 1.21% on a known device (6.2×). New devices are 9% of rows but 38% of fraud.</a:t>
            </a:r>
            <a:endParaRPr lang="en-US" sz="1400" dirty="0"/>
          </a:p>
        </p:txBody>
      </p:sp>
      <p:sp>
        <p:nvSpPr>
          <p:cNvPr id="23" name="Text 21"/>
          <p:cNvSpPr/>
          <p:nvPr/>
        </p:nvSpPr>
        <p:spPr>
          <a:xfrm>
            <a:off x="7420570" y="3098664"/>
            <a:ext cx="38642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If the risks simply multiplied</a:t>
            </a:r>
            <a:endParaRPr lang="en-US" sz="1600" dirty="0"/>
          </a:p>
        </p:txBody>
      </p:sp>
      <p:sp>
        <p:nvSpPr>
          <p:cNvPr id="24" name="Text 22"/>
          <p:cNvSpPr/>
          <p:nvPr/>
        </p:nvSpPr>
        <p:spPr>
          <a:xfrm>
            <a:off x="7420570" y="3418644"/>
            <a:ext cx="3864209"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34C58"/>
                </a:solidFill>
                <a:latin typeface="IBM Plex Sans" pitchFamily="34" charset="0"/>
                <a:ea typeface="IBM Plex Sans" pitchFamily="34" charset="-122"/>
                <a:cs typeface="IBM Plex Sans" pitchFamily="34" charset="-120"/>
              </a:rPr>
              <a:t>1.09% × 4.24 (new device) × 1.87 (young account) = </a:t>
            </a:r>
            <a:r>
              <a:rPr lang="en-US" sz="1500" b="1" dirty="0">
                <a:solidFill>
                  <a:srgbClr val="434C58"/>
                </a:solidFill>
                <a:latin typeface="IBM Plex Sans" pitchFamily="34" charset="0"/>
                <a:ea typeface="IBM Plex Sans" pitchFamily="34" charset="-122"/>
                <a:cs typeface="IBM Plex Sans" pitchFamily="34" charset="-120"/>
              </a:rPr>
              <a:t>8.7%</a:t>
            </a:r>
            <a:endParaRPr lang="en-US" sz="1500" dirty="0"/>
          </a:p>
        </p:txBody>
      </p:sp>
      <p:sp>
        <p:nvSpPr>
          <p:cNvPr id="25" name="Text 23"/>
          <p:cNvSpPr/>
          <p:nvPr/>
        </p:nvSpPr>
        <p:spPr>
          <a:xfrm>
            <a:off x="7420570" y="4009194"/>
            <a:ext cx="38642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What we observe</a:t>
            </a:r>
            <a:endParaRPr lang="en-US" sz="1600" dirty="0"/>
          </a:p>
        </p:txBody>
      </p:sp>
      <p:sp>
        <p:nvSpPr>
          <p:cNvPr id="26" name="Text 24"/>
          <p:cNvSpPr/>
          <p:nvPr/>
        </p:nvSpPr>
        <p:spPr>
          <a:xfrm>
            <a:off x="7420570" y="4329175"/>
            <a:ext cx="3864209"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434C58"/>
                </a:solidFill>
                <a:latin typeface="IBM Plex Sans" pitchFamily="34" charset="0"/>
                <a:ea typeface="IBM Plex Sans" pitchFamily="34" charset="-122"/>
                <a:cs typeface="IBM Plex Sans" pitchFamily="34" charset="-120"/>
              </a:rPr>
              <a:t>18.4%</a:t>
            </a:r>
            <a:r>
              <a:rPr lang="en-US" sz="1500" dirty="0">
                <a:solidFill>
                  <a:srgbClr val="434C58"/>
                </a:solidFill>
                <a:latin typeface="IBM Plex Sans" pitchFamily="34" charset="0"/>
                <a:ea typeface="IBM Plex Sans" pitchFamily="34" charset="-122"/>
                <a:cs typeface="IBM Plex Sans" pitchFamily="34" charset="-120"/>
              </a:rPr>
              <a:t>, about twice that.</a:t>
            </a:r>
            <a:endParaRPr lang="en-US" sz="1500" dirty="0"/>
          </a:p>
        </p:txBody>
      </p:sp>
      <p:sp>
        <p:nvSpPr>
          <p:cNvPr id="27" name="Text 25"/>
          <p:cNvSpPr/>
          <p:nvPr/>
        </p:nvSpPr>
        <p:spPr>
          <a:xfrm>
            <a:off x="7420570" y="4662550"/>
            <a:ext cx="3864209"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Plain logistic regression assumes the multiplied version and under-scores this corner, so we added an explicit new device × young account term.</a:t>
            </a:r>
            <a:endParaRPr lang="en-US" sz="1300" dirty="0"/>
          </a:p>
        </p:txBody>
      </p:sp>
      <p:sp>
        <p:nvSpPr>
          <p:cNvPr id="28" name="Text 26"/>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train.csv: new_device × (account_age &lt; 90); relative risks vs the known · ≥90-day cell</a:t>
            </a:r>
            <a:endParaRPr lang="en-US" sz="1200" dirty="0"/>
          </a:p>
        </p:txBody>
      </p:sp>
      <p:sp>
        <p:nvSpPr>
          <p:cNvPr id="29" name="Text 27"/>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FINDINGS 4–6</a:t>
            </a:r>
            <a:endParaRPr lang="en-US" sz="1200" dirty="0"/>
          </a:p>
        </p:txBody>
      </p:sp>
      <p:sp>
        <p:nvSpPr>
          <p:cNvPr id="3" name="Text 1"/>
          <p:cNvSpPr>
            <a:spLocks noGrp="1"/>
          </p:cNvSpPr>
          <p:nvPr>
            <p:ph type="title"/>
          </p:nvPr>
        </p:nvSpPr>
        <p:spPr>
          <a:xfrm>
            <a:off x="812780" y="1102342"/>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Bursts, night hours and merchant context add the rest</a:t>
            </a:r>
            <a:endParaRPr lang="en-US" sz="3000" dirty="0"/>
          </a:p>
        </p:txBody>
      </p:sp>
      <p:sp>
        <p:nvSpPr>
          <p:cNvPr id="4" name="Shape 2"/>
          <p:cNvSpPr/>
          <p:nvPr/>
        </p:nvSpPr>
        <p:spPr>
          <a:xfrm>
            <a:off x="815955" y="1753217"/>
            <a:ext cx="3397290" cy="4085650"/>
          </a:xfrm>
          <a:prstGeom prst="roundRect">
            <a:avLst>
              <a:gd name="adj" fmla="val 2897"/>
            </a:avLst>
          </a:prstGeom>
          <a:solidFill>
            <a:srgbClr val="FCFBF7"/>
          </a:solidFill>
          <a:ln w="6350">
            <a:solidFill>
              <a:srgbClr val="DCD5C4"/>
            </a:solidFill>
            <a:prstDash val="solid"/>
          </a:ln>
        </p:spPr>
        <p:txBody>
          <a:bodyPr/>
          <a:lstStyle/>
          <a:p>
            <a:endParaRPr lang="en-SG"/>
          </a:p>
        </p:txBody>
      </p:sp>
      <p:sp>
        <p:nvSpPr>
          <p:cNvPr id="5" name="Text 3"/>
          <p:cNvSpPr/>
          <p:nvPr/>
        </p:nvSpPr>
        <p:spPr>
          <a:xfrm>
            <a:off x="994351" y="1931612"/>
            <a:ext cx="31317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Last-hour bursts</a:t>
            </a:r>
            <a:endParaRPr lang="en-US" sz="1600" dirty="0"/>
          </a:p>
        </p:txBody>
      </p:sp>
      <p:sp>
        <p:nvSpPr>
          <p:cNvPr id="6" name="Text 4"/>
          <p:cNvSpPr/>
          <p:nvPr/>
        </p:nvSpPr>
        <p:spPr>
          <a:xfrm>
            <a:off x="994351" y="2251593"/>
            <a:ext cx="31317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26D"/>
                </a:solidFill>
                <a:latin typeface="IBM Plex Sans" pitchFamily="34" charset="0"/>
                <a:ea typeface="IBM Plex Sans" pitchFamily="34" charset="-122"/>
                <a:cs typeface="IBM Plex Sans" pitchFamily="34" charset="-120"/>
              </a:rPr>
              <a:t>Fraud rate by transactions in the last hour</a:t>
            </a:r>
            <a:endParaRPr lang="en-US" sz="1200" dirty="0"/>
          </a:p>
        </p:txBody>
      </p:sp>
      <p:sp>
        <p:nvSpPr>
          <p:cNvPr id="7" name="Text 5"/>
          <p:cNvSpPr/>
          <p:nvPr/>
        </p:nvSpPr>
        <p:spPr>
          <a:xfrm>
            <a:off x="943551" y="2533532"/>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0</a:t>
            </a:r>
            <a:endParaRPr lang="en-US" sz="1200" dirty="0"/>
          </a:p>
        </p:txBody>
      </p:sp>
      <p:sp>
        <p:nvSpPr>
          <p:cNvPr id="8" name="Shape 6"/>
          <p:cNvSpPr/>
          <p:nvPr/>
        </p:nvSpPr>
        <p:spPr>
          <a:xfrm>
            <a:off x="1375291" y="2548117"/>
            <a:ext cx="107930" cy="184130"/>
          </a:xfrm>
          <a:prstGeom prst="roundRect">
            <a:avLst>
              <a:gd name="adj" fmla="val 23534"/>
            </a:avLst>
          </a:prstGeom>
          <a:solidFill>
            <a:srgbClr val="A9BCCD"/>
          </a:solidFill>
          <a:ln/>
        </p:spPr>
        <p:txBody>
          <a:bodyPr/>
          <a:lstStyle/>
          <a:p>
            <a:endParaRPr lang="en-SG"/>
          </a:p>
        </p:txBody>
      </p:sp>
      <p:sp>
        <p:nvSpPr>
          <p:cNvPr id="9" name="Text 7"/>
          <p:cNvSpPr/>
          <p:nvPr/>
        </p:nvSpPr>
        <p:spPr>
          <a:xfrm>
            <a:off x="1584781" y="2533532"/>
            <a:ext cx="42560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1.4%</a:t>
            </a:r>
            <a:endParaRPr lang="en-US" sz="1200" dirty="0"/>
          </a:p>
        </p:txBody>
      </p:sp>
      <p:sp>
        <p:nvSpPr>
          <p:cNvPr id="10" name="Text 8"/>
          <p:cNvSpPr/>
          <p:nvPr/>
        </p:nvSpPr>
        <p:spPr>
          <a:xfrm>
            <a:off x="943551" y="2823093"/>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1</a:t>
            </a:r>
            <a:endParaRPr lang="en-US" sz="1200" dirty="0"/>
          </a:p>
        </p:txBody>
      </p:sp>
      <p:sp>
        <p:nvSpPr>
          <p:cNvPr id="11" name="Shape 9"/>
          <p:cNvSpPr/>
          <p:nvPr/>
        </p:nvSpPr>
        <p:spPr>
          <a:xfrm>
            <a:off x="1375291" y="2837678"/>
            <a:ext cx="101560" cy="184130"/>
          </a:xfrm>
          <a:prstGeom prst="roundRect">
            <a:avLst>
              <a:gd name="adj" fmla="val 25010"/>
            </a:avLst>
          </a:prstGeom>
          <a:solidFill>
            <a:srgbClr val="A9BCCD"/>
          </a:solidFill>
          <a:ln/>
        </p:spPr>
        <p:txBody>
          <a:bodyPr/>
          <a:lstStyle/>
          <a:p>
            <a:endParaRPr lang="en-SG"/>
          </a:p>
        </p:txBody>
      </p:sp>
      <p:sp>
        <p:nvSpPr>
          <p:cNvPr id="12" name="Text 10"/>
          <p:cNvSpPr/>
          <p:nvPr/>
        </p:nvSpPr>
        <p:spPr>
          <a:xfrm>
            <a:off x="1578412" y="2823093"/>
            <a:ext cx="42560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1.3%</a:t>
            </a:r>
            <a:endParaRPr lang="en-US" sz="1200" dirty="0"/>
          </a:p>
        </p:txBody>
      </p:sp>
      <p:sp>
        <p:nvSpPr>
          <p:cNvPr id="13" name="Text 11"/>
          <p:cNvSpPr/>
          <p:nvPr/>
        </p:nvSpPr>
        <p:spPr>
          <a:xfrm>
            <a:off x="943551" y="3112653"/>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2</a:t>
            </a:r>
            <a:endParaRPr lang="en-US" sz="1200" dirty="0"/>
          </a:p>
        </p:txBody>
      </p:sp>
      <p:sp>
        <p:nvSpPr>
          <p:cNvPr id="14" name="Shape 12"/>
          <p:cNvSpPr/>
          <p:nvPr/>
        </p:nvSpPr>
        <p:spPr>
          <a:xfrm>
            <a:off x="1375291" y="3127239"/>
            <a:ext cx="101560" cy="184130"/>
          </a:xfrm>
          <a:prstGeom prst="roundRect">
            <a:avLst>
              <a:gd name="adj" fmla="val 25010"/>
            </a:avLst>
          </a:prstGeom>
          <a:solidFill>
            <a:srgbClr val="A9BCCD"/>
          </a:solidFill>
          <a:ln/>
        </p:spPr>
        <p:txBody>
          <a:bodyPr/>
          <a:lstStyle/>
          <a:p>
            <a:endParaRPr lang="en-SG"/>
          </a:p>
        </p:txBody>
      </p:sp>
      <p:sp>
        <p:nvSpPr>
          <p:cNvPr id="15" name="Text 13"/>
          <p:cNvSpPr/>
          <p:nvPr/>
        </p:nvSpPr>
        <p:spPr>
          <a:xfrm>
            <a:off x="1578412" y="3112653"/>
            <a:ext cx="42560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1.3%</a:t>
            </a:r>
            <a:endParaRPr lang="en-US" sz="1200" dirty="0"/>
          </a:p>
        </p:txBody>
      </p:sp>
      <p:sp>
        <p:nvSpPr>
          <p:cNvPr id="16" name="Text 14"/>
          <p:cNvSpPr/>
          <p:nvPr/>
        </p:nvSpPr>
        <p:spPr>
          <a:xfrm>
            <a:off x="943551" y="3402211"/>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3</a:t>
            </a:r>
            <a:endParaRPr lang="en-US" sz="1200" dirty="0"/>
          </a:p>
        </p:txBody>
      </p:sp>
      <p:sp>
        <p:nvSpPr>
          <p:cNvPr id="17" name="Shape 15"/>
          <p:cNvSpPr/>
          <p:nvPr/>
        </p:nvSpPr>
        <p:spPr>
          <a:xfrm>
            <a:off x="1375291" y="3416796"/>
            <a:ext cx="266700" cy="184130"/>
          </a:xfrm>
          <a:prstGeom prst="roundRect">
            <a:avLst>
              <a:gd name="adj" fmla="val 13795"/>
            </a:avLst>
          </a:prstGeom>
          <a:solidFill>
            <a:srgbClr val="B44D19"/>
          </a:solidFill>
          <a:ln/>
        </p:spPr>
        <p:txBody>
          <a:bodyPr/>
          <a:lstStyle/>
          <a:p>
            <a:endParaRPr lang="en-SG"/>
          </a:p>
        </p:txBody>
      </p:sp>
      <p:sp>
        <p:nvSpPr>
          <p:cNvPr id="18" name="Text 16"/>
          <p:cNvSpPr/>
          <p:nvPr/>
        </p:nvSpPr>
        <p:spPr>
          <a:xfrm>
            <a:off x="1743551" y="3402211"/>
            <a:ext cx="42560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3.3%</a:t>
            </a:r>
            <a:endParaRPr lang="en-US" sz="1200" dirty="0"/>
          </a:p>
        </p:txBody>
      </p:sp>
      <p:sp>
        <p:nvSpPr>
          <p:cNvPr id="19" name="Text 17"/>
          <p:cNvSpPr/>
          <p:nvPr/>
        </p:nvSpPr>
        <p:spPr>
          <a:xfrm>
            <a:off x="943551" y="3691772"/>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4</a:t>
            </a:r>
            <a:endParaRPr lang="en-US" sz="1200" dirty="0"/>
          </a:p>
        </p:txBody>
      </p:sp>
      <p:sp>
        <p:nvSpPr>
          <p:cNvPr id="20" name="Shape 18"/>
          <p:cNvSpPr/>
          <p:nvPr/>
        </p:nvSpPr>
        <p:spPr>
          <a:xfrm>
            <a:off x="1375291" y="3706357"/>
            <a:ext cx="806410" cy="184130"/>
          </a:xfrm>
          <a:prstGeom prst="roundRect">
            <a:avLst>
              <a:gd name="adj" fmla="val 13795"/>
            </a:avLst>
          </a:prstGeom>
          <a:solidFill>
            <a:srgbClr val="B44D19"/>
          </a:solidFill>
          <a:ln/>
        </p:spPr>
        <p:txBody>
          <a:bodyPr/>
          <a:lstStyle/>
          <a:p>
            <a:endParaRPr lang="en-SG"/>
          </a:p>
        </p:txBody>
      </p:sp>
      <p:sp>
        <p:nvSpPr>
          <p:cNvPr id="21" name="Text 19"/>
          <p:cNvSpPr/>
          <p:nvPr/>
        </p:nvSpPr>
        <p:spPr>
          <a:xfrm>
            <a:off x="2283262" y="3691772"/>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10.2%</a:t>
            </a:r>
            <a:endParaRPr lang="en-US" sz="1200" dirty="0"/>
          </a:p>
        </p:txBody>
      </p:sp>
      <p:sp>
        <p:nvSpPr>
          <p:cNvPr id="22" name="Text 20"/>
          <p:cNvSpPr/>
          <p:nvPr/>
        </p:nvSpPr>
        <p:spPr>
          <a:xfrm>
            <a:off x="943551" y="3981332"/>
            <a:ext cx="304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5</a:t>
            </a:r>
            <a:endParaRPr lang="en-US" sz="1200" dirty="0"/>
          </a:p>
        </p:txBody>
      </p:sp>
      <p:sp>
        <p:nvSpPr>
          <p:cNvPr id="23" name="Shape 21"/>
          <p:cNvSpPr/>
          <p:nvPr/>
        </p:nvSpPr>
        <p:spPr>
          <a:xfrm>
            <a:off x="1375291" y="3995917"/>
            <a:ext cx="1847850" cy="184130"/>
          </a:xfrm>
          <a:prstGeom prst="roundRect">
            <a:avLst>
              <a:gd name="adj" fmla="val 13795"/>
            </a:avLst>
          </a:prstGeom>
          <a:solidFill>
            <a:srgbClr val="B44D19"/>
          </a:solidFill>
          <a:ln/>
        </p:spPr>
        <p:txBody>
          <a:bodyPr/>
          <a:lstStyle/>
          <a:p>
            <a:endParaRPr lang="en-SG"/>
          </a:p>
        </p:txBody>
      </p:sp>
      <p:sp>
        <p:nvSpPr>
          <p:cNvPr id="24" name="Text 22"/>
          <p:cNvSpPr/>
          <p:nvPr/>
        </p:nvSpPr>
        <p:spPr>
          <a:xfrm>
            <a:off x="3324701" y="3981332"/>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23.3%</a:t>
            </a:r>
            <a:endParaRPr lang="en-US" sz="1200" dirty="0"/>
          </a:p>
        </p:txBody>
      </p:sp>
      <p:sp>
        <p:nvSpPr>
          <p:cNvPr id="25" name="Text 23"/>
          <p:cNvSpPr/>
          <p:nvPr/>
        </p:nvSpPr>
        <p:spPr>
          <a:xfrm>
            <a:off x="994351" y="4270893"/>
            <a:ext cx="3131714"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 13 in 24h </a:t>
            </a:r>
            <a:r>
              <a:rPr lang="en-US" sz="1300" b="1" dirty="0">
                <a:solidFill>
                  <a:srgbClr val="434C58"/>
                </a:solidFill>
                <a:latin typeface="IBM Plex Sans" pitchFamily="34" charset="0"/>
                <a:ea typeface="IBM Plex Sans" pitchFamily="34" charset="-122"/>
                <a:cs typeface="IBM Plex Sans" pitchFamily="34" charset="-120"/>
              </a:rPr>
              <a:t>and</a:t>
            </a:r>
            <a:r>
              <a:rPr lang="en-US" sz="1300" dirty="0">
                <a:solidFill>
                  <a:srgbClr val="434C58"/>
                </a:solidFill>
                <a:latin typeface="IBM Plex Sans" pitchFamily="34" charset="0"/>
                <a:ea typeface="IBM Plex Sans" pitchFamily="34" charset="-122"/>
                <a:cs typeface="IBM Plex Sans" pitchFamily="34" charset="-120"/>
              </a:rPr>
              <a:t> ≥ 3 in the last hour: </a:t>
            </a:r>
            <a:r>
              <a:rPr lang="en-US" sz="1300" b="1" dirty="0">
                <a:solidFill>
                  <a:srgbClr val="434C58"/>
                </a:solidFill>
                <a:latin typeface="IBM Plex Sans" pitchFamily="34" charset="0"/>
                <a:ea typeface="IBM Plex Sans" pitchFamily="34" charset="-122"/>
                <a:cs typeface="IBM Plex Sans" pitchFamily="34" charset="-120"/>
              </a:rPr>
              <a:t>24.7%</a:t>
            </a:r>
            <a:r>
              <a:rPr lang="en-US" sz="1300" dirty="0">
                <a:solidFill>
                  <a:srgbClr val="434C58"/>
                </a:solidFill>
                <a:latin typeface="IBM Plex Sans" pitchFamily="34" charset="0"/>
                <a:ea typeface="IBM Plex Sans" pitchFamily="34" charset="-122"/>
                <a:cs typeface="IBM Plex Sans" pitchFamily="34" charset="-120"/>
              </a:rPr>
              <a:t> (58/235).</a:t>
            </a:r>
            <a:endParaRPr lang="en-US" sz="1300" dirty="0"/>
          </a:p>
        </p:txBody>
      </p:sp>
      <p:sp>
        <p:nvSpPr>
          <p:cNvPr id="26" name="Shape 24"/>
          <p:cNvSpPr/>
          <p:nvPr/>
        </p:nvSpPr>
        <p:spPr>
          <a:xfrm>
            <a:off x="4397355" y="1753217"/>
            <a:ext cx="3397290" cy="4085650"/>
          </a:xfrm>
          <a:prstGeom prst="roundRect">
            <a:avLst>
              <a:gd name="adj" fmla="val 2897"/>
            </a:avLst>
          </a:prstGeom>
          <a:solidFill>
            <a:srgbClr val="FCFBF7"/>
          </a:solidFill>
          <a:ln w="6350">
            <a:solidFill>
              <a:srgbClr val="DCD5C4"/>
            </a:solidFill>
            <a:prstDash val="solid"/>
          </a:ln>
        </p:spPr>
        <p:txBody>
          <a:bodyPr/>
          <a:lstStyle/>
          <a:p>
            <a:endParaRPr lang="en-SG"/>
          </a:p>
        </p:txBody>
      </p:sp>
      <p:sp>
        <p:nvSpPr>
          <p:cNvPr id="27" name="Text 25"/>
          <p:cNvSpPr/>
          <p:nvPr/>
        </p:nvSpPr>
        <p:spPr>
          <a:xfrm>
            <a:off x="4575751" y="1931612"/>
            <a:ext cx="31317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Night hours</a:t>
            </a:r>
            <a:endParaRPr lang="en-US" sz="1600" dirty="0"/>
          </a:p>
        </p:txBody>
      </p:sp>
      <p:sp>
        <p:nvSpPr>
          <p:cNvPr id="28" name="Text 26"/>
          <p:cNvSpPr/>
          <p:nvPr/>
        </p:nvSpPr>
        <p:spPr>
          <a:xfrm>
            <a:off x="4575751" y="2251593"/>
            <a:ext cx="3131714"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26D"/>
                </a:solidFill>
                <a:latin typeface="IBM Plex Sans" pitchFamily="34" charset="0"/>
                <a:ea typeface="IBM Plex Sans" pitchFamily="34" charset="-122"/>
                <a:cs typeface="IBM Plex Sans" pitchFamily="34" charset="-120"/>
              </a:rPr>
              <a:t>Fraud rate by time of day</a:t>
            </a:r>
            <a:endParaRPr lang="en-US" sz="1200" dirty="0"/>
          </a:p>
        </p:txBody>
      </p:sp>
      <p:sp>
        <p:nvSpPr>
          <p:cNvPr id="29" name="Text 27"/>
          <p:cNvSpPr/>
          <p:nvPr/>
        </p:nvSpPr>
        <p:spPr>
          <a:xfrm>
            <a:off x="4524951" y="2533532"/>
            <a:ext cx="685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00–04h</a:t>
            </a:r>
            <a:endParaRPr lang="en-US" sz="1200" dirty="0"/>
          </a:p>
        </p:txBody>
      </p:sp>
      <p:sp>
        <p:nvSpPr>
          <p:cNvPr id="30" name="Shape 28"/>
          <p:cNvSpPr/>
          <p:nvPr/>
        </p:nvSpPr>
        <p:spPr>
          <a:xfrm>
            <a:off x="5337691" y="2548117"/>
            <a:ext cx="1543050" cy="184130"/>
          </a:xfrm>
          <a:prstGeom prst="roundRect">
            <a:avLst>
              <a:gd name="adj" fmla="val 13795"/>
            </a:avLst>
          </a:prstGeom>
          <a:solidFill>
            <a:srgbClr val="B44D19"/>
          </a:solidFill>
          <a:ln/>
        </p:spPr>
        <p:txBody>
          <a:bodyPr/>
          <a:lstStyle/>
          <a:p>
            <a:endParaRPr lang="en-SG"/>
          </a:p>
        </p:txBody>
      </p:sp>
      <p:sp>
        <p:nvSpPr>
          <p:cNvPr id="31" name="Text 29"/>
          <p:cNvSpPr/>
          <p:nvPr/>
        </p:nvSpPr>
        <p:spPr>
          <a:xfrm>
            <a:off x="6982302" y="2533532"/>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2.60%</a:t>
            </a:r>
            <a:endParaRPr lang="en-US" sz="1200" dirty="0"/>
          </a:p>
        </p:txBody>
      </p:sp>
      <p:sp>
        <p:nvSpPr>
          <p:cNvPr id="32" name="Text 30"/>
          <p:cNvSpPr/>
          <p:nvPr/>
        </p:nvSpPr>
        <p:spPr>
          <a:xfrm>
            <a:off x="4524951" y="2823093"/>
            <a:ext cx="685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22–23h</a:t>
            </a:r>
            <a:endParaRPr lang="en-US" sz="1200" dirty="0"/>
          </a:p>
        </p:txBody>
      </p:sp>
      <p:sp>
        <p:nvSpPr>
          <p:cNvPr id="33" name="Shape 31"/>
          <p:cNvSpPr/>
          <p:nvPr/>
        </p:nvSpPr>
        <p:spPr>
          <a:xfrm>
            <a:off x="5337691" y="2837678"/>
            <a:ext cx="1320760" cy="184130"/>
          </a:xfrm>
          <a:prstGeom prst="roundRect">
            <a:avLst>
              <a:gd name="adj" fmla="val 13795"/>
            </a:avLst>
          </a:prstGeom>
          <a:solidFill>
            <a:srgbClr val="B44D19"/>
          </a:solidFill>
          <a:ln/>
        </p:spPr>
        <p:txBody>
          <a:bodyPr/>
          <a:lstStyle/>
          <a:p>
            <a:endParaRPr lang="en-SG"/>
          </a:p>
        </p:txBody>
      </p:sp>
      <p:sp>
        <p:nvSpPr>
          <p:cNvPr id="34" name="Text 32"/>
          <p:cNvSpPr/>
          <p:nvPr/>
        </p:nvSpPr>
        <p:spPr>
          <a:xfrm>
            <a:off x="6760012" y="2823093"/>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2.23%</a:t>
            </a:r>
            <a:endParaRPr lang="en-US" sz="1200" dirty="0"/>
          </a:p>
        </p:txBody>
      </p:sp>
      <p:sp>
        <p:nvSpPr>
          <p:cNvPr id="35" name="Text 33"/>
          <p:cNvSpPr/>
          <p:nvPr/>
        </p:nvSpPr>
        <p:spPr>
          <a:xfrm>
            <a:off x="4524951" y="3112653"/>
            <a:ext cx="6857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05–21h</a:t>
            </a:r>
            <a:endParaRPr lang="en-US" sz="1200" dirty="0"/>
          </a:p>
        </p:txBody>
      </p:sp>
      <p:sp>
        <p:nvSpPr>
          <p:cNvPr id="36" name="Shape 34"/>
          <p:cNvSpPr/>
          <p:nvPr/>
        </p:nvSpPr>
        <p:spPr>
          <a:xfrm>
            <a:off x="5337691" y="3127239"/>
            <a:ext cx="863560" cy="184130"/>
          </a:xfrm>
          <a:prstGeom prst="roundRect">
            <a:avLst>
              <a:gd name="adj" fmla="val 13795"/>
            </a:avLst>
          </a:prstGeom>
          <a:solidFill>
            <a:srgbClr val="A9BCCD"/>
          </a:solidFill>
          <a:ln/>
        </p:spPr>
        <p:txBody>
          <a:bodyPr/>
          <a:lstStyle/>
          <a:p>
            <a:endParaRPr lang="en-SG"/>
          </a:p>
        </p:txBody>
      </p:sp>
      <p:sp>
        <p:nvSpPr>
          <p:cNvPr id="37" name="Text 35"/>
          <p:cNvSpPr/>
          <p:nvPr/>
        </p:nvSpPr>
        <p:spPr>
          <a:xfrm>
            <a:off x="6302812" y="3112653"/>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1.46%</a:t>
            </a:r>
            <a:endParaRPr lang="en-US" sz="1200" dirty="0"/>
          </a:p>
        </p:txBody>
      </p:sp>
      <p:sp>
        <p:nvSpPr>
          <p:cNvPr id="38" name="Text 36"/>
          <p:cNvSpPr/>
          <p:nvPr/>
        </p:nvSpPr>
        <p:spPr>
          <a:xfrm>
            <a:off x="4575751" y="3402211"/>
            <a:ext cx="3131714"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Night overall 2.5% vs 1.46% by day: </a:t>
            </a:r>
            <a:r>
              <a:rPr lang="en-US" sz="1300" b="1" dirty="0">
                <a:solidFill>
                  <a:srgbClr val="434C58"/>
                </a:solidFill>
                <a:latin typeface="IBM Plex Sans" pitchFamily="34" charset="0"/>
                <a:ea typeface="IBM Plex Sans" pitchFamily="34" charset="-122"/>
                <a:cs typeface="IBM Plex Sans" pitchFamily="34" charset="-120"/>
              </a:rPr>
              <a:t>1.7×</a:t>
            </a:r>
            <a:r>
              <a:rPr lang="en-US" sz="1300" dirty="0">
                <a:solidFill>
                  <a:srgbClr val="434C58"/>
                </a:solidFill>
                <a:latin typeface="IBM Plex Sans" pitchFamily="34" charset="0"/>
                <a:ea typeface="IBM Plex Sans" pitchFamily="34" charset="-122"/>
                <a:cs typeface="IBM Plex Sans" pitchFamily="34" charset="-120"/>
              </a:rPr>
              <a:t>. A single night flag beat sin/cos hour (−0.0028 AP).</a:t>
            </a:r>
            <a:endParaRPr lang="en-US" sz="1300" dirty="0"/>
          </a:p>
        </p:txBody>
      </p:sp>
      <p:sp>
        <p:nvSpPr>
          <p:cNvPr id="39" name="Shape 37"/>
          <p:cNvSpPr/>
          <p:nvPr/>
        </p:nvSpPr>
        <p:spPr>
          <a:xfrm>
            <a:off x="7978756" y="1753217"/>
            <a:ext cx="3397290" cy="4085650"/>
          </a:xfrm>
          <a:prstGeom prst="roundRect">
            <a:avLst>
              <a:gd name="adj" fmla="val 2897"/>
            </a:avLst>
          </a:prstGeom>
          <a:solidFill>
            <a:srgbClr val="FCFBF7"/>
          </a:solidFill>
          <a:ln w="6350">
            <a:solidFill>
              <a:srgbClr val="DCD5C4"/>
            </a:solidFill>
            <a:prstDash val="solid"/>
          </a:ln>
        </p:spPr>
        <p:txBody>
          <a:bodyPr/>
          <a:lstStyle/>
          <a:p>
            <a:endParaRPr lang="en-SG"/>
          </a:p>
        </p:txBody>
      </p:sp>
      <p:sp>
        <p:nvSpPr>
          <p:cNvPr id="40" name="Text 38"/>
          <p:cNvSpPr/>
          <p:nvPr/>
        </p:nvSpPr>
        <p:spPr>
          <a:xfrm>
            <a:off x="8157151" y="1931612"/>
            <a:ext cx="31317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Merchant and context</a:t>
            </a:r>
            <a:endParaRPr lang="en-US" sz="1600" dirty="0"/>
          </a:p>
        </p:txBody>
      </p:sp>
      <p:sp>
        <p:nvSpPr>
          <p:cNvPr id="41" name="Text 39"/>
          <p:cNvSpPr/>
          <p:nvPr/>
        </p:nvSpPr>
        <p:spPr>
          <a:xfrm>
            <a:off x="8157151" y="2251593"/>
            <a:ext cx="313171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A626D"/>
                </a:solidFill>
                <a:latin typeface="IBM Plex Sans" pitchFamily="34" charset="0"/>
                <a:ea typeface="IBM Plex Sans" pitchFamily="34" charset="-122"/>
                <a:cs typeface="IBM Plex Sans" pitchFamily="34" charset="-120"/>
              </a:rPr>
              <a:t>Fraud rate by merchant category (top 3, bottom 2)</a:t>
            </a:r>
            <a:endParaRPr lang="en-US" sz="1200" dirty="0"/>
          </a:p>
        </p:txBody>
      </p:sp>
      <p:sp>
        <p:nvSpPr>
          <p:cNvPr id="42" name="Text 40"/>
          <p:cNvSpPr/>
          <p:nvPr/>
        </p:nvSpPr>
        <p:spPr>
          <a:xfrm>
            <a:off x="8106351" y="2739272"/>
            <a:ext cx="12572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luxury</a:t>
            </a:r>
            <a:endParaRPr lang="en-US" sz="1200" dirty="0"/>
          </a:p>
        </p:txBody>
      </p:sp>
      <p:sp>
        <p:nvSpPr>
          <p:cNvPr id="43" name="Shape 41"/>
          <p:cNvSpPr/>
          <p:nvPr/>
        </p:nvSpPr>
        <p:spPr>
          <a:xfrm>
            <a:off x="9490591" y="2753857"/>
            <a:ext cx="1041380" cy="184130"/>
          </a:xfrm>
          <a:prstGeom prst="roundRect">
            <a:avLst>
              <a:gd name="adj" fmla="val 13795"/>
            </a:avLst>
          </a:prstGeom>
          <a:solidFill>
            <a:srgbClr val="B44D19"/>
          </a:solidFill>
          <a:ln/>
        </p:spPr>
        <p:txBody>
          <a:bodyPr/>
          <a:lstStyle/>
          <a:p>
            <a:endParaRPr lang="en-SG"/>
          </a:p>
        </p:txBody>
      </p:sp>
      <p:sp>
        <p:nvSpPr>
          <p:cNvPr id="44" name="Text 42"/>
          <p:cNvSpPr/>
          <p:nvPr/>
        </p:nvSpPr>
        <p:spPr>
          <a:xfrm>
            <a:off x="10633532" y="2739272"/>
            <a:ext cx="495320"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5.29%</a:t>
            </a:r>
            <a:endParaRPr lang="en-US" sz="1200" dirty="0"/>
          </a:p>
        </p:txBody>
      </p:sp>
      <p:sp>
        <p:nvSpPr>
          <p:cNvPr id="45" name="Text 43"/>
          <p:cNvSpPr/>
          <p:nvPr/>
        </p:nvSpPr>
        <p:spPr>
          <a:xfrm>
            <a:off x="8106351" y="3028832"/>
            <a:ext cx="12572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cash transfer</a:t>
            </a:r>
            <a:endParaRPr lang="en-US" sz="1200" dirty="0"/>
          </a:p>
        </p:txBody>
      </p:sp>
      <p:sp>
        <p:nvSpPr>
          <p:cNvPr id="46" name="Shape 44"/>
          <p:cNvSpPr/>
          <p:nvPr/>
        </p:nvSpPr>
        <p:spPr>
          <a:xfrm>
            <a:off x="9490591" y="3043417"/>
            <a:ext cx="933450" cy="184130"/>
          </a:xfrm>
          <a:prstGeom prst="roundRect">
            <a:avLst>
              <a:gd name="adj" fmla="val 13795"/>
            </a:avLst>
          </a:prstGeom>
          <a:solidFill>
            <a:srgbClr val="B44D19"/>
          </a:solidFill>
          <a:ln/>
        </p:spPr>
        <p:txBody>
          <a:bodyPr/>
          <a:lstStyle/>
          <a:p>
            <a:endParaRPr lang="en-SG"/>
          </a:p>
        </p:txBody>
      </p:sp>
      <p:sp>
        <p:nvSpPr>
          <p:cNvPr id="47" name="Text 45"/>
          <p:cNvSpPr/>
          <p:nvPr/>
        </p:nvSpPr>
        <p:spPr>
          <a:xfrm>
            <a:off x="10525602" y="3028832"/>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4.74%</a:t>
            </a:r>
            <a:endParaRPr lang="en-US" sz="1200" dirty="0"/>
          </a:p>
        </p:txBody>
      </p:sp>
      <p:sp>
        <p:nvSpPr>
          <p:cNvPr id="48" name="Text 46"/>
          <p:cNvSpPr/>
          <p:nvPr/>
        </p:nvSpPr>
        <p:spPr>
          <a:xfrm>
            <a:off x="8106351" y="3318393"/>
            <a:ext cx="12572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electronics</a:t>
            </a:r>
            <a:endParaRPr lang="en-US" sz="1200" dirty="0"/>
          </a:p>
        </p:txBody>
      </p:sp>
      <p:sp>
        <p:nvSpPr>
          <p:cNvPr id="49" name="Shape 47"/>
          <p:cNvSpPr/>
          <p:nvPr/>
        </p:nvSpPr>
        <p:spPr>
          <a:xfrm>
            <a:off x="9490591" y="3332978"/>
            <a:ext cx="774680" cy="184130"/>
          </a:xfrm>
          <a:prstGeom prst="roundRect">
            <a:avLst>
              <a:gd name="adj" fmla="val 13795"/>
            </a:avLst>
          </a:prstGeom>
          <a:solidFill>
            <a:srgbClr val="B44D19"/>
          </a:solidFill>
          <a:ln/>
        </p:spPr>
        <p:txBody>
          <a:bodyPr/>
          <a:lstStyle/>
          <a:p>
            <a:endParaRPr lang="en-SG"/>
          </a:p>
        </p:txBody>
      </p:sp>
      <p:sp>
        <p:nvSpPr>
          <p:cNvPr id="50" name="Text 48"/>
          <p:cNvSpPr/>
          <p:nvPr/>
        </p:nvSpPr>
        <p:spPr>
          <a:xfrm>
            <a:off x="10366832" y="3318393"/>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3.94%</a:t>
            </a:r>
            <a:endParaRPr lang="en-US" sz="1200" dirty="0"/>
          </a:p>
        </p:txBody>
      </p:sp>
      <p:sp>
        <p:nvSpPr>
          <p:cNvPr id="51" name="Text 49"/>
          <p:cNvSpPr/>
          <p:nvPr/>
        </p:nvSpPr>
        <p:spPr>
          <a:xfrm>
            <a:off x="8106351" y="3607953"/>
            <a:ext cx="12572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transport</a:t>
            </a:r>
            <a:endParaRPr lang="en-US" sz="1200" dirty="0"/>
          </a:p>
        </p:txBody>
      </p:sp>
      <p:sp>
        <p:nvSpPr>
          <p:cNvPr id="52" name="Shape 50"/>
          <p:cNvSpPr/>
          <p:nvPr/>
        </p:nvSpPr>
        <p:spPr>
          <a:xfrm>
            <a:off x="9490591" y="3622539"/>
            <a:ext cx="171450" cy="184130"/>
          </a:xfrm>
          <a:prstGeom prst="roundRect">
            <a:avLst>
              <a:gd name="adj" fmla="val 14815"/>
            </a:avLst>
          </a:prstGeom>
          <a:solidFill>
            <a:srgbClr val="A9BCCD"/>
          </a:solidFill>
          <a:ln/>
        </p:spPr>
        <p:txBody>
          <a:bodyPr/>
          <a:lstStyle/>
          <a:p>
            <a:endParaRPr lang="en-SG"/>
          </a:p>
        </p:txBody>
      </p:sp>
      <p:sp>
        <p:nvSpPr>
          <p:cNvPr id="53" name="Text 51"/>
          <p:cNvSpPr/>
          <p:nvPr/>
        </p:nvSpPr>
        <p:spPr>
          <a:xfrm>
            <a:off x="9763602" y="3607953"/>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0.88%</a:t>
            </a:r>
            <a:endParaRPr lang="en-US" sz="1200" dirty="0"/>
          </a:p>
        </p:txBody>
      </p:sp>
      <p:sp>
        <p:nvSpPr>
          <p:cNvPr id="54" name="Text 52"/>
          <p:cNvSpPr/>
          <p:nvPr/>
        </p:nvSpPr>
        <p:spPr>
          <a:xfrm>
            <a:off x="8106351" y="3897511"/>
            <a:ext cx="125726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grocery</a:t>
            </a:r>
            <a:endParaRPr lang="en-US" sz="1200" dirty="0"/>
          </a:p>
        </p:txBody>
      </p:sp>
      <p:sp>
        <p:nvSpPr>
          <p:cNvPr id="55" name="Shape 53"/>
          <p:cNvSpPr/>
          <p:nvPr/>
        </p:nvSpPr>
        <p:spPr>
          <a:xfrm>
            <a:off x="9490591" y="3912096"/>
            <a:ext cx="146030" cy="184130"/>
          </a:xfrm>
          <a:prstGeom prst="roundRect">
            <a:avLst>
              <a:gd name="adj" fmla="val 17394"/>
            </a:avLst>
          </a:prstGeom>
          <a:solidFill>
            <a:srgbClr val="A9BCCD"/>
          </a:solidFill>
          <a:ln/>
        </p:spPr>
        <p:txBody>
          <a:bodyPr/>
          <a:lstStyle/>
          <a:p>
            <a:endParaRPr lang="en-SG"/>
          </a:p>
        </p:txBody>
      </p:sp>
      <p:sp>
        <p:nvSpPr>
          <p:cNvPr id="56" name="Text 54"/>
          <p:cNvSpPr/>
          <p:nvPr/>
        </p:nvSpPr>
        <p:spPr>
          <a:xfrm>
            <a:off x="9738182" y="3897511"/>
            <a:ext cx="517049" cy="238760"/>
          </a:xfrm>
          <a:prstGeom prst="rect">
            <a:avLst/>
          </a:prstGeom>
          <a:noFill/>
          <a:ln/>
        </p:spPr>
        <p:txBody>
          <a:bodyPr wrap="non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0.76%</a:t>
            </a:r>
            <a:endParaRPr lang="en-US" sz="1200" dirty="0"/>
          </a:p>
        </p:txBody>
      </p:sp>
      <p:sp>
        <p:nvSpPr>
          <p:cNvPr id="57" name="Text 55"/>
          <p:cNvSpPr/>
          <p:nvPr/>
        </p:nvSpPr>
        <p:spPr>
          <a:xfrm>
            <a:off x="8157151" y="4187072"/>
            <a:ext cx="3131714"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Big luxury/travel buys: 4.3% vs 6.7% for other big buys. “Large” depends on context → two context-residual features.</a:t>
            </a:r>
            <a:endParaRPr lang="en-US" sz="1300" dirty="0"/>
          </a:p>
        </p:txBody>
      </p:sp>
      <p:sp>
        <p:nvSpPr>
          <p:cNvPr id="58" name="Text 56"/>
          <p:cNvSpPr/>
          <p:nvPr/>
        </p:nvSpPr>
        <p:spPr>
          <a:xfrm>
            <a:off x="812780" y="6238283"/>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train.csv: fraud rate by transactions_last_1h (n ≥ 50), hour block, merchant_category</a:t>
            </a:r>
            <a:endParaRPr lang="en-US" sz="1200" dirty="0"/>
          </a:p>
        </p:txBody>
      </p:sp>
      <p:sp>
        <p:nvSpPr>
          <p:cNvPr id="59" name="Text 57"/>
          <p:cNvSpPr/>
          <p:nvPr/>
        </p:nvSpPr>
        <p:spPr>
          <a:xfrm>
            <a:off x="10566420" y="6238283"/>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EXPERIMENTS</a:t>
            </a:r>
            <a:endParaRPr lang="en-US" sz="1200" dirty="0"/>
          </a:p>
        </p:txBody>
      </p:sp>
      <p:sp>
        <p:nvSpPr>
          <p:cNvPr id="3" name="Text 1"/>
          <p:cNvSpPr>
            <a:spLocks noGrp="1"/>
          </p:cNvSpPr>
          <p:nvPr>
            <p:ph type="title"/>
          </p:nvPr>
        </p:nvSpPr>
        <p:spPr>
          <a:xfrm>
            <a:off x="812780" y="1102339"/>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We tested 14 feature ideas; one clearly paid off</a:t>
            </a:r>
            <a:endParaRPr lang="en-US" sz="3000" dirty="0"/>
          </a:p>
        </p:txBody>
      </p:sp>
      <p:sp>
        <p:nvSpPr>
          <p:cNvPr id="4" name="Text 2"/>
          <p:cNvSpPr/>
          <p:nvPr/>
        </p:nvSpPr>
        <p:spPr>
          <a:xfrm>
            <a:off x="713721" y="1713130"/>
            <a:ext cx="3401019"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Explicit interaction crosses</a:t>
            </a:r>
            <a:endParaRPr lang="en-US" sz="1200" dirty="0"/>
          </a:p>
        </p:txBody>
      </p:sp>
      <p:sp>
        <p:nvSpPr>
          <p:cNvPr id="5" name="Shape 3"/>
          <p:cNvSpPr/>
          <p:nvPr/>
        </p:nvSpPr>
        <p:spPr>
          <a:xfrm>
            <a:off x="4216301" y="1699199"/>
            <a:ext cx="12680" cy="241280"/>
          </a:xfrm>
          <a:prstGeom prst="rect">
            <a:avLst/>
          </a:prstGeom>
          <a:solidFill>
            <a:srgbClr val="17212C"/>
          </a:solidFill>
          <a:ln/>
        </p:spPr>
        <p:txBody>
          <a:bodyPr/>
          <a:lstStyle/>
          <a:p>
            <a:endParaRPr lang="en-SG"/>
          </a:p>
        </p:txBody>
      </p:sp>
      <p:sp>
        <p:nvSpPr>
          <p:cNvPr id="6" name="Shape 4"/>
          <p:cNvSpPr/>
          <p:nvPr/>
        </p:nvSpPr>
        <p:spPr>
          <a:xfrm>
            <a:off x="4330541" y="1743608"/>
            <a:ext cx="2012930" cy="152400"/>
          </a:xfrm>
          <a:prstGeom prst="roundRect">
            <a:avLst>
              <a:gd name="adj" fmla="val 12500"/>
            </a:avLst>
          </a:prstGeom>
          <a:solidFill>
            <a:srgbClr val="B44D19"/>
          </a:solidFill>
          <a:ln/>
        </p:spPr>
        <p:txBody>
          <a:bodyPr/>
          <a:lstStyle/>
          <a:p>
            <a:endParaRPr lang="en-SG"/>
          </a:p>
        </p:txBody>
      </p:sp>
      <p:sp>
        <p:nvSpPr>
          <p:cNvPr id="7" name="Text 5"/>
          <p:cNvSpPr/>
          <p:nvPr/>
        </p:nvSpPr>
        <p:spPr>
          <a:xfrm>
            <a:off x="6591062" y="1713130"/>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+0.0056</a:t>
            </a:r>
            <a:endParaRPr lang="en-US" sz="1200" dirty="0"/>
          </a:p>
        </p:txBody>
      </p:sp>
      <p:sp>
        <p:nvSpPr>
          <p:cNvPr id="8" name="Text 6"/>
          <p:cNvSpPr/>
          <p:nvPr/>
        </p:nvSpPr>
        <p:spPr>
          <a:xfrm>
            <a:off x="7581602" y="1713130"/>
            <a:ext cx="14477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D19"/>
                </a:solidFill>
                <a:latin typeface="IBM Plex Sans" pitchFamily="34" charset="0"/>
                <a:ea typeface="IBM Plex Sans" pitchFamily="34" charset="-122"/>
                <a:cs typeface="IBM Plex Sans" pitchFamily="34" charset="-120"/>
              </a:rPr>
              <a:t>3/3 Adopt</a:t>
            </a:r>
            <a:endParaRPr lang="en-US" sz="1200" dirty="0"/>
          </a:p>
        </p:txBody>
      </p:sp>
      <p:sp>
        <p:nvSpPr>
          <p:cNvPr id="9" name="Text 7"/>
          <p:cNvSpPr/>
          <p:nvPr/>
        </p:nvSpPr>
        <p:spPr>
          <a:xfrm>
            <a:off x="713721" y="1954411"/>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KMeans cluster membership, k=8</a:t>
            </a:r>
            <a:endParaRPr lang="en-US" sz="1200" dirty="0"/>
          </a:p>
        </p:txBody>
      </p:sp>
      <p:sp>
        <p:nvSpPr>
          <p:cNvPr id="10" name="Shape 8"/>
          <p:cNvSpPr/>
          <p:nvPr/>
        </p:nvSpPr>
        <p:spPr>
          <a:xfrm>
            <a:off x="4216301" y="1940480"/>
            <a:ext cx="12680" cy="241280"/>
          </a:xfrm>
          <a:prstGeom prst="rect">
            <a:avLst/>
          </a:prstGeom>
          <a:solidFill>
            <a:srgbClr val="17212C"/>
          </a:solidFill>
          <a:ln/>
        </p:spPr>
        <p:txBody>
          <a:bodyPr/>
          <a:lstStyle/>
          <a:p>
            <a:endParaRPr lang="en-SG"/>
          </a:p>
        </p:txBody>
      </p:sp>
      <p:sp>
        <p:nvSpPr>
          <p:cNvPr id="11" name="Shape 9"/>
          <p:cNvSpPr/>
          <p:nvPr/>
        </p:nvSpPr>
        <p:spPr>
          <a:xfrm>
            <a:off x="4330541" y="1984890"/>
            <a:ext cx="1511260" cy="152400"/>
          </a:xfrm>
          <a:prstGeom prst="roundRect">
            <a:avLst>
              <a:gd name="adj" fmla="val 12500"/>
            </a:avLst>
          </a:prstGeom>
          <a:solidFill>
            <a:srgbClr val="D98B5F"/>
          </a:solidFill>
          <a:ln/>
        </p:spPr>
        <p:txBody>
          <a:bodyPr/>
          <a:lstStyle/>
          <a:p>
            <a:endParaRPr lang="en-SG"/>
          </a:p>
        </p:txBody>
      </p:sp>
      <p:sp>
        <p:nvSpPr>
          <p:cNvPr id="12" name="Text 10"/>
          <p:cNvSpPr/>
          <p:nvPr/>
        </p:nvSpPr>
        <p:spPr>
          <a:xfrm>
            <a:off x="6591062" y="1954411"/>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+0.0042</a:t>
            </a:r>
            <a:endParaRPr lang="en-US" sz="1200" dirty="0"/>
          </a:p>
        </p:txBody>
      </p:sp>
      <p:sp>
        <p:nvSpPr>
          <p:cNvPr id="13" name="Text 11"/>
          <p:cNvSpPr/>
          <p:nvPr/>
        </p:nvSpPr>
        <p:spPr>
          <a:xfrm>
            <a:off x="7581602" y="1847788"/>
            <a:ext cx="14477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3/3 Overlaps crosses</a:t>
            </a:r>
            <a:endParaRPr lang="en-US" sz="1200" dirty="0"/>
          </a:p>
        </p:txBody>
      </p:sp>
      <p:sp>
        <p:nvSpPr>
          <p:cNvPr id="14" name="Text 12"/>
          <p:cNvSpPr/>
          <p:nvPr/>
        </p:nvSpPr>
        <p:spPr>
          <a:xfrm>
            <a:off x="713721" y="2195689"/>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KMeans cluster membership, k=16</a:t>
            </a:r>
            <a:endParaRPr lang="en-US" sz="1200" dirty="0"/>
          </a:p>
        </p:txBody>
      </p:sp>
      <p:sp>
        <p:nvSpPr>
          <p:cNvPr id="15" name="Shape 13"/>
          <p:cNvSpPr/>
          <p:nvPr/>
        </p:nvSpPr>
        <p:spPr>
          <a:xfrm>
            <a:off x="4216301" y="2181758"/>
            <a:ext cx="12680" cy="241280"/>
          </a:xfrm>
          <a:prstGeom prst="rect">
            <a:avLst/>
          </a:prstGeom>
          <a:solidFill>
            <a:srgbClr val="17212C"/>
          </a:solidFill>
          <a:ln/>
        </p:spPr>
        <p:txBody>
          <a:bodyPr/>
          <a:lstStyle/>
          <a:p>
            <a:endParaRPr lang="en-SG"/>
          </a:p>
        </p:txBody>
      </p:sp>
      <p:sp>
        <p:nvSpPr>
          <p:cNvPr id="16" name="Shape 14"/>
          <p:cNvSpPr/>
          <p:nvPr/>
        </p:nvSpPr>
        <p:spPr>
          <a:xfrm>
            <a:off x="4330541" y="2226171"/>
            <a:ext cx="755630" cy="152400"/>
          </a:xfrm>
          <a:prstGeom prst="roundRect">
            <a:avLst>
              <a:gd name="adj" fmla="val 12500"/>
            </a:avLst>
          </a:prstGeom>
          <a:solidFill>
            <a:srgbClr val="D98B5F"/>
          </a:solidFill>
          <a:ln/>
        </p:spPr>
        <p:txBody>
          <a:bodyPr/>
          <a:lstStyle/>
          <a:p>
            <a:endParaRPr lang="en-SG"/>
          </a:p>
        </p:txBody>
      </p:sp>
      <p:sp>
        <p:nvSpPr>
          <p:cNvPr id="17" name="Text 15"/>
          <p:cNvSpPr/>
          <p:nvPr/>
        </p:nvSpPr>
        <p:spPr>
          <a:xfrm>
            <a:off x="6591062" y="2195689"/>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+0.0021</a:t>
            </a:r>
            <a:endParaRPr lang="en-US" sz="1200" dirty="0"/>
          </a:p>
        </p:txBody>
      </p:sp>
      <p:sp>
        <p:nvSpPr>
          <p:cNvPr id="18" name="Text 16"/>
          <p:cNvSpPr/>
          <p:nvPr/>
        </p:nvSpPr>
        <p:spPr>
          <a:xfrm>
            <a:off x="7581602" y="2195689"/>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3/3</a:t>
            </a:r>
            <a:endParaRPr lang="en-US" sz="1200" dirty="0"/>
          </a:p>
        </p:txBody>
      </p:sp>
      <p:sp>
        <p:nvSpPr>
          <p:cNvPr id="19" name="Text 17"/>
          <p:cNvSpPr/>
          <p:nvPr/>
        </p:nvSpPr>
        <p:spPr>
          <a:xfrm>
            <a:off x="713721" y="2436971"/>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1h vs 24h velocity features</a:t>
            </a:r>
            <a:endParaRPr lang="en-US" sz="1200" dirty="0"/>
          </a:p>
        </p:txBody>
      </p:sp>
      <p:sp>
        <p:nvSpPr>
          <p:cNvPr id="20" name="Shape 18"/>
          <p:cNvSpPr/>
          <p:nvPr/>
        </p:nvSpPr>
        <p:spPr>
          <a:xfrm>
            <a:off x="4216301" y="2423040"/>
            <a:ext cx="12680" cy="241280"/>
          </a:xfrm>
          <a:prstGeom prst="rect">
            <a:avLst/>
          </a:prstGeom>
          <a:solidFill>
            <a:srgbClr val="17212C"/>
          </a:solidFill>
          <a:ln/>
        </p:spPr>
        <p:txBody>
          <a:bodyPr/>
          <a:lstStyle/>
          <a:p>
            <a:endParaRPr lang="en-SG"/>
          </a:p>
        </p:txBody>
      </p:sp>
      <p:sp>
        <p:nvSpPr>
          <p:cNvPr id="21" name="Shape 19"/>
          <p:cNvSpPr/>
          <p:nvPr/>
        </p:nvSpPr>
        <p:spPr>
          <a:xfrm>
            <a:off x="4330541" y="2467449"/>
            <a:ext cx="253960" cy="152400"/>
          </a:xfrm>
          <a:prstGeom prst="roundRect">
            <a:avLst>
              <a:gd name="adj" fmla="val 12500"/>
            </a:avLst>
          </a:prstGeom>
          <a:solidFill>
            <a:srgbClr val="D98B5F"/>
          </a:solidFill>
          <a:ln/>
        </p:spPr>
        <p:txBody>
          <a:bodyPr/>
          <a:lstStyle/>
          <a:p>
            <a:endParaRPr lang="en-SG"/>
          </a:p>
        </p:txBody>
      </p:sp>
      <p:sp>
        <p:nvSpPr>
          <p:cNvPr id="22" name="Text 20"/>
          <p:cNvSpPr/>
          <p:nvPr/>
        </p:nvSpPr>
        <p:spPr>
          <a:xfrm>
            <a:off x="6591062" y="2436971"/>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+0.0007</a:t>
            </a:r>
            <a:endParaRPr lang="en-US" sz="1200" dirty="0"/>
          </a:p>
        </p:txBody>
      </p:sp>
      <p:sp>
        <p:nvSpPr>
          <p:cNvPr id="23" name="Text 21"/>
          <p:cNvSpPr/>
          <p:nvPr/>
        </p:nvSpPr>
        <p:spPr>
          <a:xfrm>
            <a:off x="7581602" y="2436971"/>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2/3 Noise</a:t>
            </a:r>
            <a:endParaRPr lang="en-US" sz="1200" dirty="0"/>
          </a:p>
        </p:txBody>
      </p:sp>
      <p:sp>
        <p:nvSpPr>
          <p:cNvPr id="24" name="Text 22"/>
          <p:cNvSpPr/>
          <p:nvPr/>
        </p:nvSpPr>
        <p:spPr>
          <a:xfrm>
            <a:off x="713721" y="2678249"/>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Isolation-forest outlier score</a:t>
            </a:r>
            <a:endParaRPr lang="en-US" sz="1200" dirty="0"/>
          </a:p>
        </p:txBody>
      </p:sp>
      <p:sp>
        <p:nvSpPr>
          <p:cNvPr id="25" name="Shape 23"/>
          <p:cNvSpPr/>
          <p:nvPr/>
        </p:nvSpPr>
        <p:spPr>
          <a:xfrm>
            <a:off x="4216301" y="2664321"/>
            <a:ext cx="12680" cy="241280"/>
          </a:xfrm>
          <a:prstGeom prst="rect">
            <a:avLst/>
          </a:prstGeom>
          <a:solidFill>
            <a:srgbClr val="17212C"/>
          </a:solidFill>
          <a:ln/>
        </p:spPr>
        <p:txBody>
          <a:bodyPr/>
          <a:lstStyle/>
          <a:p>
            <a:endParaRPr lang="en-SG"/>
          </a:p>
        </p:txBody>
      </p:sp>
      <p:sp>
        <p:nvSpPr>
          <p:cNvPr id="26" name="Shape 24"/>
          <p:cNvSpPr/>
          <p:nvPr/>
        </p:nvSpPr>
        <p:spPr>
          <a:xfrm>
            <a:off x="4330541" y="2708731"/>
            <a:ext cx="69830" cy="152400"/>
          </a:xfrm>
          <a:prstGeom prst="roundRect">
            <a:avLst>
              <a:gd name="adj" fmla="val 27281"/>
            </a:avLst>
          </a:prstGeom>
          <a:solidFill>
            <a:srgbClr val="D98B5F"/>
          </a:solidFill>
          <a:ln/>
        </p:spPr>
        <p:txBody>
          <a:bodyPr/>
          <a:lstStyle/>
          <a:p>
            <a:endParaRPr lang="en-SG"/>
          </a:p>
        </p:txBody>
      </p:sp>
      <p:sp>
        <p:nvSpPr>
          <p:cNvPr id="27" name="Text 25"/>
          <p:cNvSpPr/>
          <p:nvPr/>
        </p:nvSpPr>
        <p:spPr>
          <a:xfrm>
            <a:off x="6591062" y="2678249"/>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+0.0002</a:t>
            </a:r>
            <a:endParaRPr lang="en-US" sz="1200" dirty="0"/>
          </a:p>
        </p:txBody>
      </p:sp>
      <p:sp>
        <p:nvSpPr>
          <p:cNvPr id="28" name="Text 26"/>
          <p:cNvSpPr/>
          <p:nvPr/>
        </p:nvSpPr>
        <p:spPr>
          <a:xfrm>
            <a:off x="7581602" y="2678249"/>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3/3 Noise</a:t>
            </a:r>
            <a:endParaRPr lang="en-US" sz="1200" dirty="0"/>
          </a:p>
        </p:txBody>
      </p:sp>
      <p:sp>
        <p:nvSpPr>
          <p:cNvPr id="29" name="Text 27"/>
          <p:cNvSpPr/>
          <p:nvPr/>
        </p:nvSpPr>
        <p:spPr>
          <a:xfrm>
            <a:off x="713721" y="2919530"/>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Hour as 6 time blocks</a:t>
            </a:r>
            <a:endParaRPr lang="en-US" sz="1200" dirty="0"/>
          </a:p>
        </p:txBody>
      </p:sp>
      <p:sp>
        <p:nvSpPr>
          <p:cNvPr id="30" name="Shape 28"/>
          <p:cNvSpPr/>
          <p:nvPr/>
        </p:nvSpPr>
        <p:spPr>
          <a:xfrm>
            <a:off x="6197501" y="2950009"/>
            <a:ext cx="177760" cy="152400"/>
          </a:xfrm>
          <a:prstGeom prst="roundRect">
            <a:avLst>
              <a:gd name="adj" fmla="val 12500"/>
            </a:avLst>
          </a:prstGeom>
          <a:solidFill>
            <a:srgbClr val="A9BCCD"/>
          </a:solidFill>
          <a:ln/>
        </p:spPr>
        <p:txBody>
          <a:bodyPr/>
          <a:lstStyle/>
          <a:p>
            <a:endParaRPr lang="en-SG"/>
          </a:p>
        </p:txBody>
      </p:sp>
      <p:sp>
        <p:nvSpPr>
          <p:cNvPr id="31" name="Shape 29"/>
          <p:cNvSpPr/>
          <p:nvPr/>
        </p:nvSpPr>
        <p:spPr>
          <a:xfrm>
            <a:off x="6476822" y="2905599"/>
            <a:ext cx="12680" cy="241280"/>
          </a:xfrm>
          <a:prstGeom prst="rect">
            <a:avLst/>
          </a:prstGeom>
          <a:solidFill>
            <a:srgbClr val="17212C"/>
          </a:solidFill>
          <a:ln/>
        </p:spPr>
        <p:txBody>
          <a:bodyPr/>
          <a:lstStyle/>
          <a:p>
            <a:endParaRPr lang="en-SG"/>
          </a:p>
        </p:txBody>
      </p:sp>
      <p:sp>
        <p:nvSpPr>
          <p:cNvPr id="32" name="Text 30"/>
          <p:cNvSpPr/>
          <p:nvPr/>
        </p:nvSpPr>
        <p:spPr>
          <a:xfrm>
            <a:off x="6591062" y="2919530"/>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-0.0005</a:t>
            </a:r>
            <a:endParaRPr lang="en-US" sz="1200" dirty="0"/>
          </a:p>
        </p:txBody>
      </p:sp>
      <p:sp>
        <p:nvSpPr>
          <p:cNvPr id="33" name="Text 31"/>
          <p:cNvSpPr/>
          <p:nvPr/>
        </p:nvSpPr>
        <p:spPr>
          <a:xfrm>
            <a:off x="7581602" y="2919530"/>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2/3</a:t>
            </a:r>
            <a:endParaRPr lang="en-US" sz="1200" dirty="0"/>
          </a:p>
        </p:txBody>
      </p:sp>
      <p:sp>
        <p:nvSpPr>
          <p:cNvPr id="34" name="Text 32"/>
          <p:cNvSpPr/>
          <p:nvPr/>
        </p:nvSpPr>
        <p:spPr>
          <a:xfrm>
            <a:off x="713721" y="3160812"/>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Hour cyclical + blocks</a:t>
            </a:r>
            <a:endParaRPr lang="en-US" sz="1200" dirty="0"/>
          </a:p>
        </p:txBody>
      </p:sp>
      <p:sp>
        <p:nvSpPr>
          <p:cNvPr id="35" name="Shape 33"/>
          <p:cNvSpPr/>
          <p:nvPr/>
        </p:nvSpPr>
        <p:spPr>
          <a:xfrm>
            <a:off x="6089511" y="3191290"/>
            <a:ext cx="285750" cy="152400"/>
          </a:xfrm>
          <a:prstGeom prst="roundRect">
            <a:avLst>
              <a:gd name="adj" fmla="val 12500"/>
            </a:avLst>
          </a:prstGeom>
          <a:solidFill>
            <a:srgbClr val="A9BCCD"/>
          </a:solidFill>
          <a:ln/>
        </p:spPr>
        <p:txBody>
          <a:bodyPr/>
          <a:lstStyle/>
          <a:p>
            <a:endParaRPr lang="en-SG"/>
          </a:p>
        </p:txBody>
      </p:sp>
      <p:sp>
        <p:nvSpPr>
          <p:cNvPr id="36" name="Shape 34"/>
          <p:cNvSpPr/>
          <p:nvPr/>
        </p:nvSpPr>
        <p:spPr>
          <a:xfrm>
            <a:off x="6476822" y="3146881"/>
            <a:ext cx="12680" cy="241280"/>
          </a:xfrm>
          <a:prstGeom prst="rect">
            <a:avLst/>
          </a:prstGeom>
          <a:solidFill>
            <a:srgbClr val="17212C"/>
          </a:solidFill>
          <a:ln/>
        </p:spPr>
        <p:txBody>
          <a:bodyPr/>
          <a:lstStyle/>
          <a:p>
            <a:endParaRPr lang="en-SG"/>
          </a:p>
        </p:txBody>
      </p:sp>
      <p:sp>
        <p:nvSpPr>
          <p:cNvPr id="37" name="Text 35"/>
          <p:cNvSpPr/>
          <p:nvPr/>
        </p:nvSpPr>
        <p:spPr>
          <a:xfrm>
            <a:off x="6591062" y="3160812"/>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-0.0008</a:t>
            </a:r>
            <a:endParaRPr lang="en-US" sz="1200" dirty="0"/>
          </a:p>
        </p:txBody>
      </p:sp>
      <p:sp>
        <p:nvSpPr>
          <p:cNvPr id="38" name="Text 36"/>
          <p:cNvSpPr/>
          <p:nvPr/>
        </p:nvSpPr>
        <p:spPr>
          <a:xfrm>
            <a:off x="7581602" y="3160812"/>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1/3</a:t>
            </a:r>
            <a:endParaRPr lang="en-US" sz="1200" dirty="0"/>
          </a:p>
        </p:txBody>
      </p:sp>
      <p:sp>
        <p:nvSpPr>
          <p:cNvPr id="39" name="Text 37"/>
          <p:cNvSpPr/>
          <p:nvPr/>
        </p:nvSpPr>
        <p:spPr>
          <a:xfrm>
            <a:off x="713721" y="3402090"/>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Amount relative to merchant</a:t>
            </a:r>
            <a:endParaRPr lang="en-US" sz="1200" dirty="0"/>
          </a:p>
        </p:txBody>
      </p:sp>
      <p:sp>
        <p:nvSpPr>
          <p:cNvPr id="40" name="Shape 38"/>
          <p:cNvSpPr/>
          <p:nvPr/>
        </p:nvSpPr>
        <p:spPr>
          <a:xfrm>
            <a:off x="6051411" y="3432572"/>
            <a:ext cx="323850" cy="152400"/>
          </a:xfrm>
          <a:prstGeom prst="roundRect">
            <a:avLst>
              <a:gd name="adj" fmla="val 12500"/>
            </a:avLst>
          </a:prstGeom>
          <a:solidFill>
            <a:srgbClr val="A9BCCD"/>
          </a:solidFill>
          <a:ln/>
        </p:spPr>
        <p:txBody>
          <a:bodyPr/>
          <a:lstStyle/>
          <a:p>
            <a:endParaRPr lang="en-SG"/>
          </a:p>
        </p:txBody>
      </p:sp>
      <p:sp>
        <p:nvSpPr>
          <p:cNvPr id="41" name="Shape 39"/>
          <p:cNvSpPr/>
          <p:nvPr/>
        </p:nvSpPr>
        <p:spPr>
          <a:xfrm>
            <a:off x="6476822" y="3388159"/>
            <a:ext cx="12680" cy="241280"/>
          </a:xfrm>
          <a:prstGeom prst="rect">
            <a:avLst/>
          </a:prstGeom>
          <a:solidFill>
            <a:srgbClr val="17212C"/>
          </a:solidFill>
          <a:ln/>
        </p:spPr>
        <p:txBody>
          <a:bodyPr/>
          <a:lstStyle/>
          <a:p>
            <a:endParaRPr lang="en-SG"/>
          </a:p>
        </p:txBody>
      </p:sp>
      <p:sp>
        <p:nvSpPr>
          <p:cNvPr id="42" name="Text 40"/>
          <p:cNvSpPr/>
          <p:nvPr/>
        </p:nvSpPr>
        <p:spPr>
          <a:xfrm>
            <a:off x="6591062" y="3402090"/>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-0.0009</a:t>
            </a:r>
            <a:endParaRPr lang="en-US" sz="1200" dirty="0"/>
          </a:p>
        </p:txBody>
      </p:sp>
      <p:sp>
        <p:nvSpPr>
          <p:cNvPr id="43" name="Text 41"/>
          <p:cNvSpPr/>
          <p:nvPr/>
        </p:nvSpPr>
        <p:spPr>
          <a:xfrm>
            <a:off x="7581602" y="3402090"/>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44" name="Text 42"/>
          <p:cNvSpPr/>
          <p:nvPr/>
        </p:nvSpPr>
        <p:spPr>
          <a:xfrm>
            <a:off x="713721" y="3643371"/>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Within-cluster outlier score</a:t>
            </a:r>
            <a:endParaRPr lang="en-US" sz="1200" dirty="0"/>
          </a:p>
        </p:txBody>
      </p:sp>
      <p:sp>
        <p:nvSpPr>
          <p:cNvPr id="45" name="Shape 43"/>
          <p:cNvSpPr/>
          <p:nvPr/>
        </p:nvSpPr>
        <p:spPr>
          <a:xfrm>
            <a:off x="6051411" y="3673850"/>
            <a:ext cx="323850" cy="152400"/>
          </a:xfrm>
          <a:prstGeom prst="roundRect">
            <a:avLst>
              <a:gd name="adj" fmla="val 12500"/>
            </a:avLst>
          </a:prstGeom>
          <a:solidFill>
            <a:srgbClr val="A9BCCD"/>
          </a:solidFill>
          <a:ln/>
        </p:spPr>
        <p:txBody>
          <a:bodyPr/>
          <a:lstStyle/>
          <a:p>
            <a:endParaRPr lang="en-SG"/>
          </a:p>
        </p:txBody>
      </p:sp>
      <p:sp>
        <p:nvSpPr>
          <p:cNvPr id="46" name="Shape 44"/>
          <p:cNvSpPr/>
          <p:nvPr/>
        </p:nvSpPr>
        <p:spPr>
          <a:xfrm>
            <a:off x="6476822" y="3629440"/>
            <a:ext cx="12680" cy="241280"/>
          </a:xfrm>
          <a:prstGeom prst="rect">
            <a:avLst/>
          </a:prstGeom>
          <a:solidFill>
            <a:srgbClr val="17212C"/>
          </a:solidFill>
          <a:ln/>
        </p:spPr>
        <p:txBody>
          <a:bodyPr/>
          <a:lstStyle/>
          <a:p>
            <a:endParaRPr lang="en-SG"/>
          </a:p>
        </p:txBody>
      </p:sp>
      <p:sp>
        <p:nvSpPr>
          <p:cNvPr id="47" name="Text 45"/>
          <p:cNvSpPr/>
          <p:nvPr/>
        </p:nvSpPr>
        <p:spPr>
          <a:xfrm>
            <a:off x="6591062" y="3643371"/>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-0.0009</a:t>
            </a:r>
            <a:endParaRPr lang="en-US" sz="1200" dirty="0"/>
          </a:p>
        </p:txBody>
      </p:sp>
      <p:sp>
        <p:nvSpPr>
          <p:cNvPr id="48" name="Text 46"/>
          <p:cNvSpPr/>
          <p:nvPr/>
        </p:nvSpPr>
        <p:spPr>
          <a:xfrm>
            <a:off x="7581602" y="3643371"/>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49" name="Text 47"/>
          <p:cNvSpPr/>
          <p:nvPr/>
        </p:nvSpPr>
        <p:spPr>
          <a:xfrm>
            <a:off x="713721" y="3884650"/>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Missing: median + flags</a:t>
            </a:r>
            <a:endParaRPr lang="en-US" sz="1200" dirty="0"/>
          </a:p>
        </p:txBody>
      </p:sp>
      <p:sp>
        <p:nvSpPr>
          <p:cNvPr id="50" name="Shape 48"/>
          <p:cNvSpPr/>
          <p:nvPr/>
        </p:nvSpPr>
        <p:spPr>
          <a:xfrm>
            <a:off x="5689461" y="3915132"/>
            <a:ext cx="685800" cy="152400"/>
          </a:xfrm>
          <a:prstGeom prst="roundRect">
            <a:avLst>
              <a:gd name="adj" fmla="val 12500"/>
            </a:avLst>
          </a:prstGeom>
          <a:solidFill>
            <a:srgbClr val="A9BCCD"/>
          </a:solidFill>
          <a:ln/>
        </p:spPr>
        <p:txBody>
          <a:bodyPr/>
          <a:lstStyle/>
          <a:p>
            <a:endParaRPr lang="en-SG"/>
          </a:p>
        </p:txBody>
      </p:sp>
      <p:sp>
        <p:nvSpPr>
          <p:cNvPr id="51" name="Shape 49"/>
          <p:cNvSpPr/>
          <p:nvPr/>
        </p:nvSpPr>
        <p:spPr>
          <a:xfrm>
            <a:off x="6476822" y="3870722"/>
            <a:ext cx="12680" cy="241280"/>
          </a:xfrm>
          <a:prstGeom prst="rect">
            <a:avLst/>
          </a:prstGeom>
          <a:solidFill>
            <a:srgbClr val="17212C"/>
          </a:solidFill>
          <a:ln/>
        </p:spPr>
        <p:txBody>
          <a:bodyPr/>
          <a:lstStyle/>
          <a:p>
            <a:endParaRPr lang="en-SG"/>
          </a:p>
        </p:txBody>
      </p:sp>
      <p:sp>
        <p:nvSpPr>
          <p:cNvPr id="52" name="Text 50"/>
          <p:cNvSpPr/>
          <p:nvPr/>
        </p:nvSpPr>
        <p:spPr>
          <a:xfrm>
            <a:off x="6591062" y="3884650"/>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-0.0019</a:t>
            </a:r>
            <a:endParaRPr lang="en-US" sz="1200" dirty="0"/>
          </a:p>
        </p:txBody>
      </p:sp>
      <p:sp>
        <p:nvSpPr>
          <p:cNvPr id="53" name="Text 51"/>
          <p:cNvSpPr/>
          <p:nvPr/>
        </p:nvSpPr>
        <p:spPr>
          <a:xfrm>
            <a:off x="7581602" y="3884650"/>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54" name="Text 52"/>
          <p:cNvSpPr/>
          <p:nvPr/>
        </p:nvSpPr>
        <p:spPr>
          <a:xfrm>
            <a:off x="713721" y="4125931"/>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Missing: MICE imputation</a:t>
            </a:r>
            <a:endParaRPr lang="en-US" sz="1200" dirty="0"/>
          </a:p>
        </p:txBody>
      </p:sp>
      <p:sp>
        <p:nvSpPr>
          <p:cNvPr id="55" name="Shape 53"/>
          <p:cNvSpPr/>
          <p:nvPr/>
        </p:nvSpPr>
        <p:spPr>
          <a:xfrm>
            <a:off x="5689461" y="4156410"/>
            <a:ext cx="685800" cy="152400"/>
          </a:xfrm>
          <a:prstGeom prst="roundRect">
            <a:avLst>
              <a:gd name="adj" fmla="val 12500"/>
            </a:avLst>
          </a:prstGeom>
          <a:solidFill>
            <a:srgbClr val="A9BCCD"/>
          </a:solidFill>
          <a:ln/>
        </p:spPr>
        <p:txBody>
          <a:bodyPr/>
          <a:lstStyle/>
          <a:p>
            <a:endParaRPr lang="en-SG"/>
          </a:p>
        </p:txBody>
      </p:sp>
      <p:sp>
        <p:nvSpPr>
          <p:cNvPr id="56" name="Shape 54"/>
          <p:cNvSpPr/>
          <p:nvPr/>
        </p:nvSpPr>
        <p:spPr>
          <a:xfrm>
            <a:off x="6476822" y="4112000"/>
            <a:ext cx="12680" cy="241280"/>
          </a:xfrm>
          <a:prstGeom prst="rect">
            <a:avLst/>
          </a:prstGeom>
          <a:solidFill>
            <a:srgbClr val="17212C"/>
          </a:solidFill>
          <a:ln/>
        </p:spPr>
        <p:txBody>
          <a:bodyPr/>
          <a:lstStyle/>
          <a:p>
            <a:endParaRPr lang="en-SG"/>
          </a:p>
        </p:txBody>
      </p:sp>
      <p:sp>
        <p:nvSpPr>
          <p:cNvPr id="57" name="Text 55"/>
          <p:cNvSpPr/>
          <p:nvPr/>
        </p:nvSpPr>
        <p:spPr>
          <a:xfrm>
            <a:off x="6591062" y="4125931"/>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-0.0019</a:t>
            </a:r>
            <a:endParaRPr lang="en-US" sz="1200" dirty="0"/>
          </a:p>
        </p:txBody>
      </p:sp>
      <p:sp>
        <p:nvSpPr>
          <p:cNvPr id="58" name="Text 56"/>
          <p:cNvSpPr/>
          <p:nvPr/>
        </p:nvSpPr>
        <p:spPr>
          <a:xfrm>
            <a:off x="7581602" y="4125931"/>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59" name="Text 57"/>
          <p:cNvSpPr/>
          <p:nvPr/>
        </p:nvSpPr>
        <p:spPr>
          <a:xfrm>
            <a:off x="713721" y="4367213"/>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Missing: KNN imputation</a:t>
            </a:r>
            <a:endParaRPr lang="en-US" sz="1200" dirty="0"/>
          </a:p>
        </p:txBody>
      </p:sp>
      <p:sp>
        <p:nvSpPr>
          <p:cNvPr id="60" name="Shape 58"/>
          <p:cNvSpPr/>
          <p:nvPr/>
        </p:nvSpPr>
        <p:spPr>
          <a:xfrm>
            <a:off x="5511701" y="4397691"/>
            <a:ext cx="863560" cy="152400"/>
          </a:xfrm>
          <a:prstGeom prst="roundRect">
            <a:avLst>
              <a:gd name="adj" fmla="val 12500"/>
            </a:avLst>
          </a:prstGeom>
          <a:solidFill>
            <a:srgbClr val="A9BCCD"/>
          </a:solidFill>
          <a:ln/>
        </p:spPr>
        <p:txBody>
          <a:bodyPr/>
          <a:lstStyle/>
          <a:p>
            <a:endParaRPr lang="en-SG"/>
          </a:p>
        </p:txBody>
      </p:sp>
      <p:sp>
        <p:nvSpPr>
          <p:cNvPr id="61" name="Shape 59"/>
          <p:cNvSpPr/>
          <p:nvPr/>
        </p:nvSpPr>
        <p:spPr>
          <a:xfrm>
            <a:off x="6476822" y="4353282"/>
            <a:ext cx="12680" cy="241280"/>
          </a:xfrm>
          <a:prstGeom prst="rect">
            <a:avLst/>
          </a:prstGeom>
          <a:solidFill>
            <a:srgbClr val="17212C"/>
          </a:solidFill>
          <a:ln/>
        </p:spPr>
        <p:txBody>
          <a:bodyPr/>
          <a:lstStyle/>
          <a:p>
            <a:endParaRPr lang="en-SG"/>
          </a:p>
        </p:txBody>
      </p:sp>
      <p:sp>
        <p:nvSpPr>
          <p:cNvPr id="62" name="Text 60"/>
          <p:cNvSpPr/>
          <p:nvPr/>
        </p:nvSpPr>
        <p:spPr>
          <a:xfrm>
            <a:off x="6591062" y="4367213"/>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-0.0024</a:t>
            </a:r>
            <a:endParaRPr lang="en-US" sz="1200" dirty="0"/>
          </a:p>
        </p:txBody>
      </p:sp>
      <p:sp>
        <p:nvSpPr>
          <p:cNvPr id="63" name="Text 61"/>
          <p:cNvSpPr/>
          <p:nvPr/>
        </p:nvSpPr>
        <p:spPr>
          <a:xfrm>
            <a:off x="7581602" y="4367213"/>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64" name="Text 62"/>
          <p:cNvSpPr/>
          <p:nvPr/>
        </p:nvSpPr>
        <p:spPr>
          <a:xfrm>
            <a:off x="713721" y="4608491"/>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Hour as sin / cos</a:t>
            </a:r>
            <a:endParaRPr lang="en-US" sz="1200" dirty="0"/>
          </a:p>
        </p:txBody>
      </p:sp>
      <p:sp>
        <p:nvSpPr>
          <p:cNvPr id="65" name="Shape 63"/>
          <p:cNvSpPr/>
          <p:nvPr/>
        </p:nvSpPr>
        <p:spPr>
          <a:xfrm>
            <a:off x="5365611" y="4638973"/>
            <a:ext cx="1009650" cy="152400"/>
          </a:xfrm>
          <a:prstGeom prst="roundRect">
            <a:avLst>
              <a:gd name="adj" fmla="val 12500"/>
            </a:avLst>
          </a:prstGeom>
          <a:solidFill>
            <a:srgbClr val="A9BCCD"/>
          </a:solidFill>
          <a:ln/>
        </p:spPr>
        <p:txBody>
          <a:bodyPr/>
          <a:lstStyle/>
          <a:p>
            <a:endParaRPr lang="en-SG"/>
          </a:p>
        </p:txBody>
      </p:sp>
      <p:sp>
        <p:nvSpPr>
          <p:cNvPr id="66" name="Shape 64"/>
          <p:cNvSpPr/>
          <p:nvPr/>
        </p:nvSpPr>
        <p:spPr>
          <a:xfrm>
            <a:off x="6476822" y="4594560"/>
            <a:ext cx="12680" cy="241280"/>
          </a:xfrm>
          <a:prstGeom prst="rect">
            <a:avLst/>
          </a:prstGeom>
          <a:solidFill>
            <a:srgbClr val="17212C"/>
          </a:solidFill>
          <a:ln/>
        </p:spPr>
        <p:txBody>
          <a:bodyPr/>
          <a:lstStyle/>
          <a:p>
            <a:endParaRPr lang="en-SG"/>
          </a:p>
        </p:txBody>
      </p:sp>
      <p:sp>
        <p:nvSpPr>
          <p:cNvPr id="67" name="Text 65"/>
          <p:cNvSpPr/>
          <p:nvPr/>
        </p:nvSpPr>
        <p:spPr>
          <a:xfrm>
            <a:off x="6591062" y="4608491"/>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-0.0028</a:t>
            </a:r>
            <a:endParaRPr lang="en-US" sz="1200" dirty="0"/>
          </a:p>
        </p:txBody>
      </p:sp>
      <p:sp>
        <p:nvSpPr>
          <p:cNvPr id="68" name="Text 66"/>
          <p:cNvSpPr/>
          <p:nvPr/>
        </p:nvSpPr>
        <p:spPr>
          <a:xfrm>
            <a:off x="7581602" y="4608491"/>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69" name="Text 67"/>
          <p:cNvSpPr/>
          <p:nvPr/>
        </p:nvSpPr>
        <p:spPr>
          <a:xfrm>
            <a:off x="713721" y="4849772"/>
            <a:ext cx="340101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34C58"/>
                </a:solidFill>
                <a:latin typeface="IBM Plex Sans" pitchFamily="34" charset="0"/>
                <a:ea typeface="IBM Plex Sans" pitchFamily="34" charset="-122"/>
                <a:cs typeface="IBM Plex Sans" pitchFamily="34" charset="-120"/>
              </a:rPr>
              <a:t>Target-encoded category crosses</a:t>
            </a:r>
            <a:endParaRPr lang="en-US" sz="1200" dirty="0"/>
          </a:p>
        </p:txBody>
      </p:sp>
      <p:sp>
        <p:nvSpPr>
          <p:cNvPr id="70" name="Shape 68"/>
          <p:cNvSpPr/>
          <p:nvPr/>
        </p:nvSpPr>
        <p:spPr>
          <a:xfrm>
            <a:off x="4648081" y="4880251"/>
            <a:ext cx="1727180" cy="152400"/>
          </a:xfrm>
          <a:prstGeom prst="roundRect">
            <a:avLst>
              <a:gd name="adj" fmla="val 12500"/>
            </a:avLst>
          </a:prstGeom>
          <a:solidFill>
            <a:srgbClr val="A9BCCD"/>
          </a:solidFill>
          <a:ln/>
        </p:spPr>
        <p:txBody>
          <a:bodyPr/>
          <a:lstStyle/>
          <a:p>
            <a:endParaRPr lang="en-SG"/>
          </a:p>
        </p:txBody>
      </p:sp>
      <p:sp>
        <p:nvSpPr>
          <p:cNvPr id="71" name="Shape 69"/>
          <p:cNvSpPr/>
          <p:nvPr/>
        </p:nvSpPr>
        <p:spPr>
          <a:xfrm>
            <a:off x="6476822" y="4835841"/>
            <a:ext cx="12680" cy="241280"/>
          </a:xfrm>
          <a:prstGeom prst="rect">
            <a:avLst/>
          </a:prstGeom>
          <a:solidFill>
            <a:srgbClr val="17212C"/>
          </a:solidFill>
          <a:ln/>
        </p:spPr>
        <p:txBody>
          <a:bodyPr/>
          <a:lstStyle/>
          <a:p>
            <a:endParaRPr lang="en-SG"/>
          </a:p>
        </p:txBody>
      </p:sp>
      <p:sp>
        <p:nvSpPr>
          <p:cNvPr id="72" name="Text 70"/>
          <p:cNvSpPr/>
          <p:nvPr/>
        </p:nvSpPr>
        <p:spPr>
          <a:xfrm>
            <a:off x="6591062" y="4849772"/>
            <a:ext cx="939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12C"/>
                </a:solidFill>
                <a:latin typeface="IBM Plex Mono" pitchFamily="49" charset="0"/>
                <a:ea typeface="IBM Plex Mono" pitchFamily="49" charset="-122"/>
                <a:cs typeface="IBM Plex Mono" pitchFamily="49" charset="-120"/>
              </a:rPr>
              <a:t>-0.0048</a:t>
            </a:r>
            <a:endParaRPr lang="en-US" sz="1200" dirty="0"/>
          </a:p>
        </p:txBody>
      </p:sp>
      <p:sp>
        <p:nvSpPr>
          <p:cNvPr id="73" name="Text 71"/>
          <p:cNvSpPr/>
          <p:nvPr/>
        </p:nvSpPr>
        <p:spPr>
          <a:xfrm>
            <a:off x="7581602" y="4849772"/>
            <a:ext cx="1447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0/3</a:t>
            </a:r>
            <a:endParaRPr lang="en-US" sz="1200" dirty="0"/>
          </a:p>
        </p:txBody>
      </p:sp>
      <p:sp>
        <p:nvSpPr>
          <p:cNvPr id="74" name="Text 72"/>
          <p:cNvSpPr/>
          <p:nvPr/>
        </p:nvSpPr>
        <p:spPr>
          <a:xfrm>
            <a:off x="812780" y="5254882"/>
            <a:ext cx="10883434"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A626D"/>
                </a:solidFill>
                <a:latin typeface="IBM Plex Sans" pitchFamily="34" charset="0"/>
                <a:ea typeface="IBM Plex Sans" pitchFamily="34" charset="-122"/>
                <a:cs typeface="IBM Plex Sans" pitchFamily="34" charset="-120"/>
              </a:rPr>
              <a:t>Change in PR-AUC vs the logistic regression baseline (0.2316), 5-fold × 3 repeats, with repeats won. Crosses were then confirmed on fresh splits inside the blend: +0.0033, 3/3 (pre-set bar: more than +0.003 and at least 2/3).</a:t>
            </a:r>
            <a:endParaRPr lang="en-US" sz="1300" dirty="0"/>
          </a:p>
        </p:txBody>
      </p:sp>
      <p:sp>
        <p:nvSpPr>
          <p:cNvPr id="75" name="Text 73"/>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docs/ANALYSIS_REPORT.md §3 (seed 2026); confirmation on unused seed-7007 splits</a:t>
            </a:r>
            <a:endParaRPr lang="en-US" sz="1200" dirty="0"/>
          </a:p>
        </p:txBody>
      </p:sp>
      <p:sp>
        <p:nvSpPr>
          <p:cNvPr id="76" name="Text 74"/>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2D"/>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8A4B"/>
                </a:solidFill>
                <a:latin typeface="IBM Plex Mono" pitchFamily="49" charset="0"/>
                <a:ea typeface="IBM Plex Mono" pitchFamily="49" charset="-122"/>
                <a:cs typeface="IBM Plex Mono" pitchFamily="49" charset="-120"/>
              </a:rPr>
              <a:t>FINAL MODEL · #2756</a:t>
            </a:r>
            <a:endParaRPr lang="en-US" sz="1200" dirty="0"/>
          </a:p>
        </p:txBody>
      </p:sp>
      <p:sp>
        <p:nvSpPr>
          <p:cNvPr id="3" name="Text 1"/>
          <p:cNvSpPr>
            <a:spLocks noGrp="1"/>
          </p:cNvSpPr>
          <p:nvPr>
            <p:ph type="title"/>
          </p:nvPr>
        </p:nvSpPr>
        <p:spPr>
          <a:xfrm>
            <a:off x="812780" y="1102339"/>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EFEBE1"/>
                </a:solidFill>
                <a:latin typeface="Source Serif 4" pitchFamily="18" charset="0"/>
                <a:ea typeface="Source Serif 4" pitchFamily="18" charset="-122"/>
                <a:cs typeface="Source Serif 4" pitchFamily="18" charset="-120"/>
              </a:rPr>
              <a:t>Three models, one score</a:t>
            </a:r>
            <a:endParaRPr lang="en-US" sz="3000" dirty="0"/>
          </a:p>
        </p:txBody>
      </p:sp>
      <p:sp>
        <p:nvSpPr>
          <p:cNvPr id="4" name="Shape 2"/>
          <p:cNvSpPr/>
          <p:nvPr/>
        </p:nvSpPr>
        <p:spPr>
          <a:xfrm>
            <a:off x="815955" y="1778574"/>
            <a:ext cx="3380324" cy="2307392"/>
          </a:xfrm>
          <a:prstGeom prst="roundRect">
            <a:avLst>
              <a:gd name="adj" fmla="val 4266"/>
            </a:avLst>
          </a:prstGeom>
          <a:solidFill>
            <a:srgbClr val="1E2C3B"/>
          </a:solidFill>
          <a:ln w="6350">
            <a:solidFill>
              <a:srgbClr val="33465A"/>
            </a:solidFill>
            <a:prstDash val="solid"/>
          </a:ln>
        </p:spPr>
        <p:txBody>
          <a:bodyPr/>
          <a:lstStyle/>
          <a:p>
            <a:endParaRPr lang="en-SG"/>
          </a:p>
        </p:txBody>
      </p:sp>
      <p:sp>
        <p:nvSpPr>
          <p:cNvPr id="5" name="Text 3"/>
          <p:cNvSpPr/>
          <p:nvPr/>
        </p:nvSpPr>
        <p:spPr>
          <a:xfrm>
            <a:off x="1019770" y="2157648"/>
            <a:ext cx="200063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FEBE1"/>
                </a:solidFill>
                <a:latin typeface="IBM Plex Sans" pitchFamily="34" charset="0"/>
                <a:ea typeface="IBM Plex Sans" pitchFamily="34" charset="-122"/>
                <a:cs typeface="IBM Plex Sans" pitchFamily="34" charset="-120"/>
              </a:rPr>
              <a:t>Logistic regression</a:t>
            </a:r>
            <a:endParaRPr lang="en-US" sz="1600" dirty="0"/>
          </a:p>
        </p:txBody>
      </p:sp>
      <p:sp>
        <p:nvSpPr>
          <p:cNvPr id="6" name="Text 4"/>
          <p:cNvSpPr/>
          <p:nvPr/>
        </p:nvSpPr>
        <p:spPr>
          <a:xfrm>
            <a:off x="3120640" y="1982391"/>
            <a:ext cx="871823" cy="52320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F08A4B"/>
                </a:solidFill>
                <a:latin typeface="Source Serif 4" pitchFamily="18" charset="0"/>
                <a:ea typeface="Source Serif 4" pitchFamily="18" charset="-122"/>
                <a:cs typeface="Source Serif 4" pitchFamily="18" charset="-120"/>
              </a:rPr>
              <a:t>63%</a:t>
            </a:r>
            <a:endParaRPr lang="en-US" sz="2800" dirty="0"/>
          </a:p>
        </p:txBody>
      </p:sp>
      <p:sp>
        <p:nvSpPr>
          <p:cNvPr id="7" name="Text 5"/>
          <p:cNvSpPr/>
          <p:nvPr/>
        </p:nvSpPr>
        <p:spPr>
          <a:xfrm>
            <a:off x="1019770" y="2556390"/>
            <a:ext cx="3173333"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3CC"/>
                </a:solidFill>
                <a:latin typeface="IBM Plex Sans" pitchFamily="34" charset="0"/>
                <a:ea typeface="IBM Plex Sans" pitchFamily="34" charset="-122"/>
                <a:cs typeface="IBM Plex Sans" pitchFamily="34" charset="-120"/>
              </a:rPr>
              <a:t>L2, C = 0.1 · crosses + context residuals</a:t>
            </a:r>
            <a:endParaRPr lang="en-US" sz="1300" dirty="0"/>
          </a:p>
        </p:txBody>
      </p:sp>
      <p:sp>
        <p:nvSpPr>
          <p:cNvPr id="8" name="Text 6"/>
          <p:cNvSpPr/>
          <p:nvPr/>
        </p:nvSpPr>
        <p:spPr>
          <a:xfrm>
            <a:off x="1019770" y="2863689"/>
            <a:ext cx="306187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FEBE1"/>
                </a:solidFill>
                <a:latin typeface="IBM Plex Sans" pitchFamily="34" charset="0"/>
                <a:ea typeface="IBM Plex Sans" pitchFamily="34" charset="-122"/>
                <a:cs typeface="IBM Plex Sans" pitchFamily="34" charset="-120"/>
              </a:rPr>
              <a:t>The backbone: additive log-odds</a:t>
            </a:r>
            <a:endParaRPr lang="en-US" sz="1300" dirty="0"/>
          </a:p>
        </p:txBody>
      </p:sp>
      <p:sp>
        <p:nvSpPr>
          <p:cNvPr id="9" name="Text 7"/>
          <p:cNvSpPr/>
          <p:nvPr/>
        </p:nvSpPr>
        <p:spPr>
          <a:xfrm>
            <a:off x="1019770" y="3170991"/>
            <a:ext cx="30618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BM Plex Mono" pitchFamily="49" charset="0"/>
                <a:ea typeface="IBM Plex Mono" pitchFamily="49" charset="-122"/>
                <a:cs typeface="IBM Plex Mono" pitchFamily="49" charset="-120"/>
              </a:rPr>
              <a:t>alone: PR-AUC 0.2349</a:t>
            </a:r>
            <a:endParaRPr lang="en-US" sz="1200" dirty="0"/>
          </a:p>
        </p:txBody>
      </p:sp>
      <p:sp>
        <p:nvSpPr>
          <p:cNvPr id="10" name="Shape 8"/>
          <p:cNvSpPr/>
          <p:nvPr/>
        </p:nvSpPr>
        <p:spPr>
          <a:xfrm>
            <a:off x="4405809" y="1778574"/>
            <a:ext cx="3380383" cy="2307392"/>
          </a:xfrm>
          <a:prstGeom prst="roundRect">
            <a:avLst>
              <a:gd name="adj" fmla="val 4266"/>
            </a:avLst>
          </a:prstGeom>
          <a:solidFill>
            <a:srgbClr val="1E2C3B"/>
          </a:solidFill>
          <a:ln w="6350">
            <a:solidFill>
              <a:srgbClr val="33465A"/>
            </a:solidFill>
            <a:prstDash val="solid"/>
          </a:ln>
        </p:spPr>
        <p:txBody>
          <a:bodyPr/>
          <a:lstStyle/>
          <a:p>
            <a:endParaRPr lang="en-SG"/>
          </a:p>
        </p:txBody>
      </p:sp>
      <p:sp>
        <p:nvSpPr>
          <p:cNvPr id="11" name="Text 9"/>
          <p:cNvSpPr/>
          <p:nvPr/>
        </p:nvSpPr>
        <p:spPr>
          <a:xfrm>
            <a:off x="4609624" y="2157648"/>
            <a:ext cx="10302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FEBE1"/>
                </a:solidFill>
                <a:latin typeface="IBM Plex Sans" pitchFamily="34" charset="0"/>
                <a:ea typeface="IBM Plex Sans" pitchFamily="34" charset="-122"/>
                <a:cs typeface="IBM Plex Sans" pitchFamily="34" charset="-120"/>
              </a:rPr>
              <a:t>CatBoost</a:t>
            </a:r>
            <a:endParaRPr lang="en-US" sz="1600" dirty="0"/>
          </a:p>
        </p:txBody>
      </p:sp>
      <p:sp>
        <p:nvSpPr>
          <p:cNvPr id="12" name="Text 10"/>
          <p:cNvSpPr/>
          <p:nvPr/>
        </p:nvSpPr>
        <p:spPr>
          <a:xfrm>
            <a:off x="6710554" y="1982391"/>
            <a:ext cx="871823" cy="52320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F08A4B"/>
                </a:solidFill>
                <a:latin typeface="Source Serif 4" pitchFamily="18" charset="0"/>
                <a:ea typeface="Source Serif 4" pitchFamily="18" charset="-122"/>
                <a:cs typeface="Source Serif 4" pitchFamily="18" charset="-120"/>
              </a:rPr>
              <a:t>27%</a:t>
            </a:r>
            <a:endParaRPr lang="en-US" sz="2800" dirty="0"/>
          </a:p>
        </p:txBody>
      </p:sp>
      <p:sp>
        <p:nvSpPr>
          <p:cNvPr id="13" name="Text 11"/>
          <p:cNvSpPr/>
          <p:nvPr/>
        </p:nvSpPr>
        <p:spPr>
          <a:xfrm>
            <a:off x="4609624" y="2556390"/>
            <a:ext cx="3061935"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3CC"/>
                </a:solidFill>
                <a:latin typeface="IBM Plex Sans" pitchFamily="34" charset="0"/>
                <a:ea typeface="IBM Plex Sans" pitchFamily="34" charset="-122"/>
                <a:cs typeface="IBM Plex Sans" pitchFamily="34" charset="-120"/>
              </a:rPr>
              <a:t>depth 5 · 600 trees · strong L2</a:t>
            </a:r>
            <a:endParaRPr lang="en-US" sz="1300" dirty="0"/>
          </a:p>
        </p:txBody>
      </p:sp>
      <p:sp>
        <p:nvSpPr>
          <p:cNvPr id="14" name="Text 12"/>
          <p:cNvSpPr/>
          <p:nvPr/>
        </p:nvSpPr>
        <p:spPr>
          <a:xfrm>
            <a:off x="4609624" y="2863689"/>
            <a:ext cx="3061935"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FEBE1"/>
                </a:solidFill>
                <a:latin typeface="IBM Plex Sans" pitchFamily="34" charset="0"/>
                <a:ea typeface="IBM Plex Sans" pitchFamily="34" charset="-122"/>
                <a:cs typeface="IBM Plex Sans" pitchFamily="34" charset="-120"/>
              </a:rPr>
              <a:t>Thresholds and interactions LR misses</a:t>
            </a:r>
            <a:endParaRPr lang="en-US" sz="1300" dirty="0"/>
          </a:p>
        </p:txBody>
      </p:sp>
      <p:sp>
        <p:nvSpPr>
          <p:cNvPr id="15" name="Text 13"/>
          <p:cNvSpPr/>
          <p:nvPr/>
        </p:nvSpPr>
        <p:spPr>
          <a:xfrm>
            <a:off x="4609624" y="3170991"/>
            <a:ext cx="306193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BM Plex Mono" pitchFamily="49" charset="0"/>
                <a:ea typeface="IBM Plex Mono" pitchFamily="49" charset="-122"/>
                <a:cs typeface="IBM Plex Mono" pitchFamily="49" charset="-120"/>
              </a:rPr>
              <a:t>alone: PR-AUC 0.2059</a:t>
            </a:r>
            <a:endParaRPr lang="en-US" sz="1200" dirty="0"/>
          </a:p>
        </p:txBody>
      </p:sp>
      <p:sp>
        <p:nvSpPr>
          <p:cNvPr id="16" name="Shape 14"/>
          <p:cNvSpPr/>
          <p:nvPr/>
        </p:nvSpPr>
        <p:spPr>
          <a:xfrm>
            <a:off x="7995722" y="1778574"/>
            <a:ext cx="3380324" cy="2307392"/>
          </a:xfrm>
          <a:prstGeom prst="roundRect">
            <a:avLst>
              <a:gd name="adj" fmla="val 4266"/>
            </a:avLst>
          </a:prstGeom>
          <a:solidFill>
            <a:srgbClr val="1E2C3B"/>
          </a:solidFill>
          <a:ln w="6350">
            <a:solidFill>
              <a:srgbClr val="33465A"/>
            </a:solidFill>
            <a:prstDash val="solid"/>
          </a:ln>
        </p:spPr>
        <p:txBody>
          <a:bodyPr/>
          <a:lstStyle/>
          <a:p>
            <a:endParaRPr lang="en-SG"/>
          </a:p>
        </p:txBody>
      </p:sp>
      <p:sp>
        <p:nvSpPr>
          <p:cNvPr id="17" name="Text 15"/>
          <p:cNvSpPr/>
          <p:nvPr/>
        </p:nvSpPr>
        <p:spPr>
          <a:xfrm>
            <a:off x="8199537" y="2157648"/>
            <a:ext cx="2336614"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FEBE1"/>
                </a:solidFill>
                <a:latin typeface="IBM Plex Sans" pitchFamily="34" charset="0"/>
                <a:ea typeface="IBM Plex Sans" pitchFamily="34" charset="-122"/>
                <a:cs typeface="IBM Plex Sans" pitchFamily="34" charset="-120"/>
              </a:rPr>
              <a:t>Tree-augmented naive Bayes</a:t>
            </a:r>
            <a:endParaRPr lang="en-US" sz="1600" dirty="0"/>
          </a:p>
        </p:txBody>
      </p:sp>
      <p:sp>
        <p:nvSpPr>
          <p:cNvPr id="18" name="Text 16"/>
          <p:cNvSpPr/>
          <p:nvPr/>
        </p:nvSpPr>
        <p:spPr>
          <a:xfrm>
            <a:off x="10569655" y="1982391"/>
            <a:ext cx="653375" cy="1021001"/>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8A4B"/>
                </a:solidFill>
                <a:latin typeface="Source Serif 4" pitchFamily="18" charset="0"/>
                <a:ea typeface="Source Serif 4" pitchFamily="18" charset="-122"/>
                <a:cs typeface="Source Serif 4" pitchFamily="18" charset="-120"/>
              </a:rPr>
              <a:t>10%</a:t>
            </a:r>
            <a:endParaRPr lang="en-US" sz="2800" dirty="0"/>
          </a:p>
        </p:txBody>
      </p:sp>
      <p:sp>
        <p:nvSpPr>
          <p:cNvPr id="19" name="Text 17"/>
          <p:cNvSpPr/>
          <p:nvPr/>
        </p:nvSpPr>
        <p:spPr>
          <a:xfrm>
            <a:off x="8199537" y="3054189"/>
            <a:ext cx="317333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3CC"/>
                </a:solidFill>
                <a:latin typeface="IBM Plex Sans" pitchFamily="34" charset="0"/>
                <a:ea typeface="IBM Plex Sans" pitchFamily="34" charset="-122"/>
                <a:cs typeface="IBM Plex Sans" pitchFamily="34" charset="-120"/>
              </a:rPr>
              <a:t>Bayesian network over binned features</a:t>
            </a:r>
            <a:endParaRPr lang="en-US" sz="1300" dirty="0"/>
          </a:p>
        </p:txBody>
      </p:sp>
      <p:sp>
        <p:nvSpPr>
          <p:cNvPr id="20" name="Text 18"/>
          <p:cNvSpPr/>
          <p:nvPr/>
        </p:nvSpPr>
        <p:spPr>
          <a:xfrm>
            <a:off x="8199537" y="3361491"/>
            <a:ext cx="306187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FEBE1"/>
                </a:solidFill>
                <a:latin typeface="IBM Plex Sans" pitchFamily="34" charset="0"/>
                <a:ea typeface="IBM Plex Sans" pitchFamily="34" charset="-122"/>
                <a:cs typeface="IBM Plex Sans" pitchFamily="34" charset="-120"/>
              </a:rPr>
              <a:t>Integrates over missing values exactly</a:t>
            </a:r>
            <a:endParaRPr lang="en-US" sz="1300" dirty="0"/>
          </a:p>
        </p:txBody>
      </p:sp>
      <p:sp>
        <p:nvSpPr>
          <p:cNvPr id="21" name="Text 19"/>
          <p:cNvSpPr/>
          <p:nvPr/>
        </p:nvSpPr>
        <p:spPr>
          <a:xfrm>
            <a:off x="8199537" y="3668790"/>
            <a:ext cx="30618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BM Plex Mono" pitchFamily="49" charset="0"/>
                <a:ea typeface="IBM Plex Mono" pitchFamily="49" charset="-122"/>
                <a:cs typeface="IBM Plex Mono" pitchFamily="49" charset="-120"/>
              </a:rPr>
              <a:t>alone: PR-AUC 0.1421</a:t>
            </a:r>
            <a:endParaRPr lang="en-US" sz="1200" dirty="0"/>
          </a:p>
        </p:txBody>
      </p:sp>
      <p:sp>
        <p:nvSpPr>
          <p:cNvPr id="22" name="Shape 20"/>
          <p:cNvSpPr/>
          <p:nvPr/>
        </p:nvSpPr>
        <p:spPr>
          <a:xfrm>
            <a:off x="812780" y="4343099"/>
            <a:ext cx="5715000" cy="1498937"/>
          </a:xfrm>
          <a:prstGeom prst="roundRect">
            <a:avLst>
              <a:gd name="adj" fmla="val 6778"/>
            </a:avLst>
          </a:prstGeom>
          <a:solidFill>
            <a:srgbClr val="F08A4B"/>
          </a:solidFill>
          <a:ln/>
        </p:spPr>
        <p:txBody>
          <a:bodyPr/>
          <a:lstStyle/>
          <a:p>
            <a:endParaRPr lang="en-SG"/>
          </a:p>
        </p:txBody>
      </p:sp>
      <p:sp>
        <p:nvSpPr>
          <p:cNvPr id="23" name="Text 21"/>
          <p:cNvSpPr/>
          <p:nvPr/>
        </p:nvSpPr>
        <p:spPr>
          <a:xfrm>
            <a:off x="1066741" y="4546281"/>
            <a:ext cx="5363292" cy="239058"/>
          </a:xfrm>
          <a:prstGeom prst="rect">
            <a:avLst/>
          </a:prstGeom>
          <a:noFill/>
          <a:ln/>
        </p:spPr>
        <p:txBody>
          <a:bodyPr wrap="square" lIns="0" tIns="0" rIns="0" bIns="0" rtlCol="0" anchor="t">
            <a:normAutofit/>
          </a:bodyPr>
          <a:lstStyle/>
          <a:p>
            <a:pPr marL="0" indent="0" algn="l">
              <a:lnSpc>
                <a:spcPts val="1719"/>
              </a:lnSpc>
              <a:buNone/>
            </a:pPr>
            <a:r>
              <a:rPr lang="en-US" sz="1228" b="1" dirty="0">
                <a:solidFill>
                  <a:srgbClr val="14202D"/>
                </a:solidFill>
                <a:latin typeface="IBM Plex Sans" pitchFamily="34" charset="0"/>
                <a:ea typeface="IBM Plex Sans" pitchFamily="34" charset="-122"/>
                <a:cs typeface="IBM Plex Sans" pitchFamily="34" charset="-120"/>
              </a:rPr>
              <a:t>Blended risk score</a:t>
            </a:r>
            <a:endParaRPr lang="en-US" sz="1228" dirty="0"/>
          </a:p>
        </p:txBody>
      </p:sp>
      <p:sp>
        <p:nvSpPr>
          <p:cNvPr id="24" name="Text 22"/>
          <p:cNvSpPr/>
          <p:nvPr/>
        </p:nvSpPr>
        <p:spPr>
          <a:xfrm>
            <a:off x="1066741" y="4810717"/>
            <a:ext cx="5363292" cy="432415"/>
          </a:xfrm>
          <a:prstGeom prst="rect">
            <a:avLst/>
          </a:prstGeom>
          <a:noFill/>
          <a:ln/>
        </p:spPr>
        <p:txBody>
          <a:bodyPr wrap="square" lIns="0" tIns="0" rIns="0" bIns="0" rtlCol="0" anchor="t">
            <a:normAutofit/>
          </a:bodyPr>
          <a:lstStyle/>
          <a:p>
            <a:pPr marL="0" indent="0" algn="l">
              <a:lnSpc>
                <a:spcPts val="3213"/>
              </a:lnSpc>
              <a:buNone/>
            </a:pPr>
            <a:r>
              <a:rPr lang="en-US" sz="3213" b="1" dirty="0">
                <a:solidFill>
                  <a:srgbClr val="14202D"/>
                </a:solidFill>
                <a:latin typeface="Source Serif 4" pitchFamily="18" charset="0"/>
                <a:ea typeface="Source Serif 4" pitchFamily="18" charset="-122"/>
                <a:cs typeface="Source Serif 4" pitchFamily="18" charset="-120"/>
              </a:rPr>
              <a:t>PR-AUC 0.2365</a:t>
            </a:r>
            <a:endParaRPr lang="en-US" sz="3213" dirty="0"/>
          </a:p>
        </p:txBody>
      </p:sp>
      <p:sp>
        <p:nvSpPr>
          <p:cNvPr id="25" name="Text 23"/>
          <p:cNvSpPr/>
          <p:nvPr/>
        </p:nvSpPr>
        <p:spPr>
          <a:xfrm>
            <a:off x="1066741" y="5268513"/>
            <a:ext cx="5363292" cy="395744"/>
          </a:xfrm>
          <a:prstGeom prst="rect">
            <a:avLst/>
          </a:prstGeom>
          <a:noFill/>
          <a:ln/>
        </p:spPr>
        <p:txBody>
          <a:bodyPr wrap="square" lIns="0" tIns="0" rIns="0" bIns="0" rtlCol="0" anchor="t">
            <a:normAutofit/>
          </a:bodyPr>
          <a:lstStyle/>
          <a:p>
            <a:pPr marL="0" indent="0" algn="l">
              <a:lnSpc>
                <a:spcPts val="1462"/>
              </a:lnSpc>
              <a:buNone/>
            </a:pPr>
            <a:r>
              <a:rPr lang="en-US" sz="1044" dirty="0">
                <a:solidFill>
                  <a:srgbClr val="14202D"/>
                </a:solidFill>
                <a:latin typeface="IBM Plex Sans" pitchFamily="34" charset="0"/>
                <a:ea typeface="IBM Plex Sans" pitchFamily="34" charset="-122"/>
                <a:cs typeface="IBM Plex Sans" pitchFamily="34" charset="-120"/>
              </a:rPr>
              <a:t>Features: logs · amount vs 24h average · night and non-SG flags · 5 crosses · 2 context residuals · gaps kept</a:t>
            </a:r>
            <a:endParaRPr lang="en-US" sz="1044" dirty="0"/>
          </a:p>
        </p:txBody>
      </p:sp>
      <p:sp>
        <p:nvSpPr>
          <p:cNvPr id="26" name="Shape 24"/>
          <p:cNvSpPr/>
          <p:nvPr/>
        </p:nvSpPr>
        <p:spPr>
          <a:xfrm>
            <a:off x="6734135" y="4346274"/>
            <a:ext cx="4641910" cy="1492587"/>
          </a:xfrm>
          <a:prstGeom prst="roundRect">
            <a:avLst>
              <a:gd name="adj" fmla="val 6594"/>
            </a:avLst>
          </a:prstGeom>
          <a:solidFill>
            <a:srgbClr val="1E2C3B"/>
          </a:solidFill>
          <a:ln w="6350">
            <a:solidFill>
              <a:srgbClr val="33465A"/>
            </a:solidFill>
            <a:prstDash val="solid"/>
          </a:ln>
        </p:spPr>
        <p:txBody>
          <a:bodyPr/>
          <a:lstStyle/>
          <a:p>
            <a:endParaRPr lang="en-SG"/>
          </a:p>
        </p:txBody>
      </p:sp>
      <p:sp>
        <p:nvSpPr>
          <p:cNvPr id="27" name="Text 25"/>
          <p:cNvSpPr/>
          <p:nvPr/>
        </p:nvSpPr>
        <p:spPr>
          <a:xfrm>
            <a:off x="6937951" y="4550094"/>
            <a:ext cx="4361308" cy="242034"/>
          </a:xfrm>
          <a:prstGeom prst="rect">
            <a:avLst/>
          </a:prstGeom>
          <a:noFill/>
          <a:ln/>
        </p:spPr>
        <p:txBody>
          <a:bodyPr wrap="square" lIns="0" tIns="0" rIns="0" bIns="0" rtlCol="0" anchor="t">
            <a:normAutofit/>
          </a:bodyPr>
          <a:lstStyle/>
          <a:p>
            <a:pPr marL="0" indent="0" algn="l">
              <a:lnSpc>
                <a:spcPts val="1722"/>
              </a:lnSpc>
              <a:buNone/>
            </a:pPr>
            <a:r>
              <a:rPr lang="en-US" sz="1435" b="1" dirty="0">
                <a:solidFill>
                  <a:srgbClr val="EFEBE1"/>
                </a:solidFill>
                <a:latin typeface="IBM Plex Sans" pitchFamily="34" charset="0"/>
                <a:ea typeface="IBM Plex Sans" pitchFamily="34" charset="-122"/>
                <a:cs typeface="IBM Plex Sans" pitchFamily="34" charset="-120"/>
              </a:rPr>
              <a:t>Why LR leads</a:t>
            </a:r>
            <a:endParaRPr lang="en-US" sz="1435" dirty="0"/>
          </a:p>
        </p:txBody>
      </p:sp>
      <p:sp>
        <p:nvSpPr>
          <p:cNvPr id="28" name="Text 26"/>
          <p:cNvSpPr/>
          <p:nvPr/>
        </p:nvSpPr>
        <p:spPr>
          <a:xfrm>
            <a:off x="6937951" y="4842926"/>
            <a:ext cx="4361308" cy="817523"/>
          </a:xfrm>
          <a:prstGeom prst="rect">
            <a:avLst/>
          </a:prstGeom>
          <a:noFill/>
          <a:ln/>
        </p:spPr>
        <p:txBody>
          <a:bodyPr wrap="square" lIns="0" tIns="0" rIns="0" bIns="0" rtlCol="0" anchor="t">
            <a:normAutofit/>
          </a:bodyPr>
          <a:lstStyle/>
          <a:p>
            <a:pPr marL="0" indent="0" algn="l">
              <a:lnSpc>
                <a:spcPts val="1569"/>
              </a:lnSpc>
              <a:buNone/>
            </a:pPr>
            <a:r>
              <a:rPr lang="en-US" sz="1162" dirty="0">
                <a:solidFill>
                  <a:srgbClr val="B9C3CC"/>
                </a:solidFill>
                <a:latin typeface="IBM Plex Sans" pitchFamily="34" charset="0"/>
                <a:ea typeface="IBM Plex Sans" pitchFamily="34" charset="-122"/>
                <a:cs typeface="IBM Plex Sans" pitchFamily="34" charset="-120"/>
              </a:rPr>
              <a:t>Alone, it beat 12+ model families on identical folds (LR 0.228; CatBoost 0.219, TabICL 0.215, EBM 0.211, LightGBM 0.205, XGBoost 0.198). Risks mostly add up in log-odds, LR's exact shape.</a:t>
            </a:r>
            <a:endParaRPr lang="en-US" sz="1162" dirty="0"/>
          </a:p>
        </p:txBody>
      </p:sp>
      <p:sp>
        <p:nvSpPr>
          <p:cNvPr id="29" name="Text 27"/>
          <p:cNvSpPr/>
          <p:nvPr/>
        </p:nvSpPr>
        <p:spPr>
          <a:xfrm>
            <a:off x="812780" y="6238277"/>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F08A4B"/>
                </a:solidFill>
                <a:latin typeface="IBM Plex Mono" pitchFamily="49" charset="0"/>
                <a:ea typeface="IBM Plex Mono" pitchFamily="49" charset="-122"/>
                <a:cs typeface="IBM Plex Mono" pitchFamily="49" charset="-120"/>
              </a:rPr>
              <a:t>EVIDENCE</a:t>
            </a:r>
            <a:r>
              <a:rPr lang="en-US" sz="1200" dirty="0">
                <a:solidFill>
                  <a:srgbClr val="B9C3CC"/>
                </a:solidFill>
                <a:latin typeface="IBM Plex Mono" pitchFamily="49" charset="0"/>
                <a:ea typeface="IBM Plex Mono" pitchFamily="49" charset="-122"/>
                <a:cs typeface="IBM Plex Mono" pitchFamily="49" charset="-120"/>
              </a:rPr>
              <a:t> #2756 OOF, seed-17 5-fold; blend identity max err 0.0; research_v2/research_comparison.csv</a:t>
            </a:r>
            <a:endParaRPr lang="en-US" sz="1200" dirty="0"/>
          </a:p>
        </p:txBody>
      </p:sp>
      <p:sp>
        <p:nvSpPr>
          <p:cNvPr id="30" name="Text 28"/>
          <p:cNvSpPr/>
          <p:nvPr/>
        </p:nvSpPr>
        <p:spPr>
          <a:xfrm>
            <a:off x="10566420" y="6238277"/>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CC"/>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RESULTS AND VALIDATION</a:t>
            </a:r>
            <a:endParaRPr lang="en-US" sz="1200" dirty="0"/>
          </a:p>
        </p:txBody>
      </p:sp>
      <p:sp>
        <p:nvSpPr>
          <p:cNvPr id="3" name="Text 1"/>
          <p:cNvSpPr>
            <a:spLocks noGrp="1"/>
          </p:cNvSpPr>
          <p:nvPr>
            <p:ph type="title"/>
          </p:nvPr>
        </p:nvSpPr>
        <p:spPr>
          <a:xfrm>
            <a:off x="812780" y="1102345"/>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The top of the list is where the value is</a:t>
            </a:r>
            <a:endParaRPr lang="en-US" sz="3000" dirty="0"/>
          </a:p>
        </p:txBody>
      </p:sp>
      <p:pic>
        <p:nvPicPr>
          <p:cNvPr id="4" name="Image 0" descr="Precision-recall curve of the final model: about 61% precision at 17% recall, 14% at 40% recall; random baseline 1.8%"/>
          <p:cNvPicPr>
            <a:picLocks noChangeAspect="1"/>
          </p:cNvPicPr>
          <p:nvPr/>
        </p:nvPicPr>
        <p:blipFill>
          <a:blip r:embed="rId3"/>
          <a:srcRect l="-1" r="-1"/>
          <a:stretch/>
        </p:blipFill>
        <p:spPr>
          <a:xfrm>
            <a:off x="1422380" y="1750045"/>
            <a:ext cx="4825960" cy="3555921"/>
          </a:xfrm>
          <a:prstGeom prst="rect">
            <a:avLst/>
          </a:prstGeom>
        </p:spPr>
      </p:pic>
      <p:sp>
        <p:nvSpPr>
          <p:cNvPr id="5" name="Text 2"/>
          <p:cNvSpPr/>
          <p:nvPr/>
        </p:nvSpPr>
        <p:spPr>
          <a:xfrm>
            <a:off x="2368510" y="3007345"/>
            <a:ext cx="13207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D19"/>
                </a:solidFill>
                <a:latin typeface="IBM Plex Sans" pitchFamily="34" charset="0"/>
                <a:ea typeface="IBM Plex Sans" pitchFamily="34" charset="-122"/>
                <a:cs typeface="IBM Plex Sans" pitchFamily="34" charset="-120"/>
              </a:rPr>
              <a:t>top 100</a:t>
            </a:r>
            <a:endParaRPr lang="en-US" sz="1200" dirty="0"/>
          </a:p>
        </p:txBody>
      </p:sp>
      <p:sp>
        <p:nvSpPr>
          <p:cNvPr id="6" name="Text 3"/>
          <p:cNvSpPr/>
          <p:nvPr/>
        </p:nvSpPr>
        <p:spPr>
          <a:xfrm>
            <a:off x="2685991" y="3686770"/>
            <a:ext cx="13207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D19"/>
                </a:solidFill>
                <a:latin typeface="IBM Plex Sans" pitchFamily="34" charset="0"/>
                <a:ea typeface="IBM Plex Sans" pitchFamily="34" charset="-122"/>
                <a:cs typeface="IBM Plex Sans" pitchFamily="34" charset="-120"/>
              </a:rPr>
              <a:t>top 200</a:t>
            </a:r>
            <a:endParaRPr lang="en-US" sz="1200" dirty="0"/>
          </a:p>
        </p:txBody>
      </p:sp>
      <p:sp>
        <p:nvSpPr>
          <p:cNvPr id="7" name="Text 4"/>
          <p:cNvSpPr/>
          <p:nvPr/>
        </p:nvSpPr>
        <p:spPr>
          <a:xfrm>
            <a:off x="3467041" y="4677370"/>
            <a:ext cx="13207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D19"/>
                </a:solidFill>
                <a:latin typeface="IBM Plex Sans" pitchFamily="34" charset="0"/>
                <a:ea typeface="IBM Plex Sans" pitchFamily="34" charset="-122"/>
                <a:cs typeface="IBM Plex Sans" pitchFamily="34" charset="-120"/>
              </a:rPr>
              <a:t>top 1,000</a:t>
            </a:r>
            <a:endParaRPr lang="en-US" sz="1200" dirty="0"/>
          </a:p>
        </p:txBody>
      </p:sp>
      <p:sp>
        <p:nvSpPr>
          <p:cNvPr id="8" name="Text 5"/>
          <p:cNvSpPr/>
          <p:nvPr/>
        </p:nvSpPr>
        <p:spPr>
          <a:xfrm>
            <a:off x="761980" y="1750045"/>
            <a:ext cx="5587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100%</a:t>
            </a:r>
            <a:endParaRPr lang="en-US" sz="1200" dirty="0"/>
          </a:p>
        </p:txBody>
      </p:sp>
      <p:sp>
        <p:nvSpPr>
          <p:cNvPr id="9" name="Text 6"/>
          <p:cNvSpPr/>
          <p:nvPr/>
        </p:nvSpPr>
        <p:spPr>
          <a:xfrm>
            <a:off x="761980" y="3426445"/>
            <a:ext cx="5587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50%</a:t>
            </a:r>
            <a:endParaRPr lang="en-US" sz="1200" dirty="0"/>
          </a:p>
        </p:txBody>
      </p:sp>
      <p:sp>
        <p:nvSpPr>
          <p:cNvPr id="10" name="Text 7"/>
          <p:cNvSpPr/>
          <p:nvPr/>
        </p:nvSpPr>
        <p:spPr>
          <a:xfrm>
            <a:off x="761980" y="5102845"/>
            <a:ext cx="5587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a:t>
            </a:r>
            <a:endParaRPr lang="en-US" sz="1200" dirty="0"/>
          </a:p>
        </p:txBody>
      </p:sp>
      <p:sp>
        <p:nvSpPr>
          <p:cNvPr id="11" name="Text 8"/>
          <p:cNvSpPr/>
          <p:nvPr/>
        </p:nvSpPr>
        <p:spPr>
          <a:xfrm>
            <a:off x="1422380" y="5382220"/>
            <a:ext cx="497073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Recall (share of fraud caught) → · y: precision</a:t>
            </a:r>
            <a:endParaRPr lang="en-US" sz="1200" dirty="0"/>
          </a:p>
        </p:txBody>
      </p:sp>
      <p:sp>
        <p:nvSpPr>
          <p:cNvPr id="12" name="Text 9"/>
          <p:cNvSpPr/>
          <p:nvPr/>
        </p:nvSpPr>
        <p:spPr>
          <a:xfrm>
            <a:off x="4288096" y="4950445"/>
            <a:ext cx="189672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Sans" pitchFamily="34" charset="0"/>
                <a:ea typeface="IBM Plex Sans" pitchFamily="34" charset="-122"/>
                <a:cs typeface="IBM Plex Sans" pitchFamily="34" charset="-120"/>
              </a:rPr>
              <a:t>random = 1.8%</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15351" y="1761475"/>
          <a:ext cx="4687552" cy="1988820"/>
        </p:xfrm>
        <a:graphic>
          <a:graphicData uri="http://schemas.openxmlformats.org/drawingml/2006/table">
            <a:tbl>
              <a:tblPr/>
              <a:tblGrid>
                <a:gridCol w="750008">
                  <a:extLst>
                    <a:ext uri="{9D8B030D-6E8A-4147-A177-3AD203B41FA5}">
                      <a16:colId xmlns:a16="http://schemas.microsoft.com/office/drawing/2014/main" val="20000"/>
                    </a:ext>
                  </a:extLst>
                </a:gridCol>
                <a:gridCol w="703133">
                  <a:extLst>
                    <a:ext uri="{9D8B030D-6E8A-4147-A177-3AD203B41FA5}">
                      <a16:colId xmlns:a16="http://schemas.microsoft.com/office/drawing/2014/main" val="20001"/>
                    </a:ext>
                  </a:extLst>
                </a:gridCol>
                <a:gridCol w="703133">
                  <a:extLst>
                    <a:ext uri="{9D8B030D-6E8A-4147-A177-3AD203B41FA5}">
                      <a16:colId xmlns:a16="http://schemas.microsoft.com/office/drawing/2014/main" val="20002"/>
                    </a:ext>
                  </a:extLst>
                </a:gridCol>
                <a:gridCol w="890635">
                  <a:extLst>
                    <a:ext uri="{9D8B030D-6E8A-4147-A177-3AD203B41FA5}">
                      <a16:colId xmlns:a16="http://schemas.microsoft.com/office/drawing/2014/main" val="20003"/>
                    </a:ext>
                  </a:extLst>
                </a:gridCol>
                <a:gridCol w="843759">
                  <a:extLst>
                    <a:ext uri="{9D8B030D-6E8A-4147-A177-3AD203B41FA5}">
                      <a16:colId xmlns:a16="http://schemas.microsoft.com/office/drawing/2014/main" val="20004"/>
                    </a:ext>
                  </a:extLst>
                </a:gridCol>
                <a:gridCol w="796884">
                  <a:extLst>
                    <a:ext uri="{9D8B030D-6E8A-4147-A177-3AD203B41FA5}">
                      <a16:colId xmlns:a16="http://schemas.microsoft.com/office/drawing/2014/main" val="20005"/>
                    </a:ext>
                  </a:extLst>
                </a:gridCol>
              </a:tblGrid>
              <a:tr h="331470">
                <a:tc>
                  <a:txBody>
                    <a:bodyPr/>
                    <a:lstStyle/>
                    <a:p>
                      <a:pPr marL="0" indent="0">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Alerts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Share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Frauds</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Precision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Recall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Lift</a:t>
                      </a:r>
                      <a:endParaRPr lang="en-US" sz="1200" dirty="0">
                        <a:latin typeface="IBM Plex Sans" charset="0"/>
                        <a:ea typeface="IBM Plex Sans" charset="0"/>
                        <a:cs typeface="IBM Plex Sans" charset="0"/>
                      </a:endParaRPr>
                    </a:p>
                  </a:txBody>
                  <a:tcPr marL="53340" marR="53340" marT="53340" marB="5334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extLst>
                  <a:ext uri="{0D108BD9-81ED-4DB2-BD59-A6C34878D82A}">
                    <a16:rowId xmlns:a16="http://schemas.microsoft.com/office/drawing/2014/main" val="10000"/>
                  </a:ext>
                </a:extLst>
              </a:tr>
              <a:tr h="331470">
                <a:tc>
                  <a:txBody>
                    <a:bodyPr/>
                    <a:lstStyle/>
                    <a:p>
                      <a:pPr marL="0" indent="0">
                        <a:lnSpc>
                          <a:spcPts val="1680"/>
                        </a:lnSpc>
                        <a:buNone/>
                      </a:pPr>
                      <a:r>
                        <a:rPr lang="en-US" sz="1200" dirty="0">
                          <a:solidFill>
                            <a:srgbClr val="17212C"/>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0.25%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9.9%</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1"/>
                  </a:ext>
                </a:extLst>
              </a:tr>
              <a:tr h="331470">
                <a:tc>
                  <a:txBody>
                    <a:bodyPr/>
                    <a:lstStyle/>
                    <a:p>
                      <a:pPr marL="0" indent="0">
                        <a:lnSpc>
                          <a:spcPts val="1680"/>
                        </a:lnSpc>
                        <a:buNone/>
                      </a:pPr>
                      <a:r>
                        <a:rPr lang="en-US" sz="1200" dirty="0">
                          <a:solidFill>
                            <a:srgbClr val="17212C"/>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0.5%</a:t>
                      </a:r>
                      <a:endParaRPr lang="en-US" sz="1200" dirty="0">
                        <a:latin typeface="IBM Plex Sans" charset="0"/>
                        <a:ea typeface="IBM Plex Sans" charset="0"/>
                        <a:cs typeface="IBM Plex Sans" charset="0"/>
                      </a:endParaRPr>
                    </a:p>
                  </a:txBody>
                  <a:tcPr marL="53340" marR="53340" marT="53340" marB="53340">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61</a:t>
                      </a:r>
                      <a:endParaRPr lang="en-US" sz="1200" dirty="0">
                        <a:latin typeface="IBM Plex Sans" charset="0"/>
                        <a:ea typeface="IBM Plex Sans" charset="0"/>
                        <a:cs typeface="IBM Plex Sans" charset="0"/>
                      </a:endParaRPr>
                    </a:p>
                  </a:txBody>
                  <a:tcPr marL="53340" marR="53340" marT="53340" marB="53340">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61%</a:t>
                      </a:r>
                      <a:endParaRPr lang="en-US" sz="1200" dirty="0">
                        <a:latin typeface="IBM Plex Sans" charset="0"/>
                        <a:ea typeface="IBM Plex Sans" charset="0"/>
                        <a:cs typeface="IBM Plex Sans" charset="0"/>
                      </a:endParaRPr>
                    </a:p>
                  </a:txBody>
                  <a:tcPr marL="53340" marR="53340" marT="53340" marB="53340">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17.3%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2B5AD"/>
                      </a:solidFill>
                      <a:prstDash val="solid"/>
                      <a:round/>
                      <a:headEnd type="none" w="med" len="med"/>
                      <a:tailEnd type="none" w="med" len="med"/>
                    </a:lnL>
                    <a:lnR w="12700" cap="flat" cmpd="sng" algn="ctr">
                      <a:solidFill>
                        <a:srgbClr val="C2B5AD"/>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2B5AD"/>
                      </a:solidFill>
                      <a:prstDash val="solid"/>
                      <a:round/>
                      <a:headEnd type="none" w="med" len="med"/>
                      <a:tailEnd type="none" w="med" len="med"/>
                    </a:lnB>
                    <a:solidFill>
                      <a:srgbClr val="F3E3D8"/>
                    </a:solidFill>
                  </a:tcPr>
                </a:tc>
                <a:extLst>
                  <a:ext uri="{0D108BD9-81ED-4DB2-BD59-A6C34878D82A}">
                    <a16:rowId xmlns:a16="http://schemas.microsoft.com/office/drawing/2014/main" val="10002"/>
                  </a:ext>
                </a:extLst>
              </a:tr>
              <a:tr h="331470">
                <a:tc>
                  <a:txBody>
                    <a:bodyPr/>
                    <a:lstStyle/>
                    <a:p>
                      <a:pPr marL="0" indent="0">
                        <a:lnSpc>
                          <a:spcPts val="1680"/>
                        </a:lnSpc>
                        <a:buNone/>
                      </a:pPr>
                      <a:r>
                        <a:rPr lang="en-US" sz="1200" dirty="0">
                          <a:solidFill>
                            <a:srgbClr val="17212C"/>
                          </a:solidFill>
                          <a:latin typeface="IBM Plex Sans" pitchFamily="34" charset="0"/>
                          <a:ea typeface="IBM Plex Sans" pitchFamily="34" charset="-122"/>
                          <a:cs typeface="IBM Plex Sans" pitchFamily="34" charset="-120"/>
                        </a:rPr>
                        <a:t>200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23.8%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2B5AD"/>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3"/>
                  </a:ext>
                </a:extLst>
              </a:tr>
              <a:tr h="331470">
                <a:tc>
                  <a:txBody>
                    <a:bodyPr/>
                    <a:lstStyle/>
                    <a:p>
                      <a:pPr marL="0" indent="0">
                        <a:lnSpc>
                          <a:spcPts val="1680"/>
                        </a:lnSpc>
                        <a:buNone/>
                      </a:pPr>
                      <a:r>
                        <a:rPr lang="en-US" sz="1200" dirty="0">
                          <a:solidFill>
                            <a:srgbClr val="17212C"/>
                          </a:solidFill>
                          <a:latin typeface="IBM Plex Sans" pitchFamily="34" charset="0"/>
                          <a:ea typeface="IBM Plex Sans" pitchFamily="34" charset="-122"/>
                          <a:cs typeface="IBM Plex Sans" pitchFamily="34" charset="-120"/>
                        </a:rPr>
                        <a:t>500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114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32.3%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4"/>
                  </a:ext>
                </a:extLst>
              </a:tr>
              <a:tr h="331470">
                <a:tc>
                  <a:txBody>
                    <a:bodyPr/>
                    <a:lstStyle/>
                    <a:p>
                      <a:pPr marL="0" indent="0">
                        <a:lnSpc>
                          <a:spcPts val="1680"/>
                        </a:lnSpc>
                        <a:buNone/>
                      </a:pPr>
                      <a:r>
                        <a:rPr lang="en-US" sz="1200" dirty="0">
                          <a:solidFill>
                            <a:srgbClr val="17212C"/>
                          </a:solidFill>
                          <a:latin typeface="IBM Plex Sans" pitchFamily="34" charset="0"/>
                          <a:ea typeface="IBM Plex Sans" pitchFamily="34" charset="-122"/>
                          <a:cs typeface="IBM Plex Sans" pitchFamily="34" charset="-120"/>
                        </a:rPr>
                        <a:t>1,000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1BB"/>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141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39.9%</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marL="0" indent="0" algn="r">
                        <a:lnSpc>
                          <a:spcPts val="1680"/>
                        </a:lnSpc>
                        <a:buNone/>
                      </a:pPr>
                      <a:r>
                        <a:rPr lang="en-US" sz="1200" dirty="0">
                          <a:solidFill>
                            <a:srgbClr val="17212C"/>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extLst>
                  <a:ext uri="{0D108BD9-81ED-4DB2-BD59-A6C34878D82A}">
                    <a16:rowId xmlns:a16="http://schemas.microsoft.com/office/drawing/2014/main" val="10005"/>
                  </a:ext>
                </a:extLst>
              </a:tr>
            </a:tbl>
          </a:graphicData>
        </a:graphic>
      </p:graphicFrame>
      <p:sp>
        <p:nvSpPr>
          <p:cNvPr id="14" name="Text 10"/>
          <p:cNvSpPr/>
          <p:nvPr/>
        </p:nvSpPr>
        <p:spPr>
          <a:xfrm>
            <a:off x="6603921" y="3902695"/>
            <a:ext cx="4918558"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Reviewing from the top, the first 100 alerts are </a:t>
            </a:r>
            <a:r>
              <a:rPr lang="en-US" sz="1300" b="1" dirty="0">
                <a:solidFill>
                  <a:srgbClr val="434C58"/>
                </a:solidFill>
                <a:latin typeface="IBM Plex Sans" pitchFamily="34" charset="0"/>
                <a:ea typeface="IBM Plex Sans" pitchFamily="34" charset="-122"/>
                <a:cs typeface="IBM Plex Sans" pitchFamily="34" charset="-120"/>
              </a:rPr>
              <a:t>61% fraud</a:t>
            </a:r>
            <a:r>
              <a:rPr lang="en-US" sz="1300" dirty="0">
                <a:solidFill>
                  <a:srgbClr val="434C58"/>
                </a:solidFill>
                <a:latin typeface="IBM Plex Sans" pitchFamily="34" charset="0"/>
                <a:ea typeface="IBM Plex Sans" pitchFamily="34" charset="-122"/>
                <a:cs typeface="IBM Plex Sans" pitchFamily="34" charset="-120"/>
              </a:rPr>
              <a:t>; the first 1,000 catch 40% of all fraud.</a:t>
            </a:r>
            <a:endParaRPr lang="en-US" sz="1300" dirty="0"/>
          </a:p>
        </p:txBody>
      </p:sp>
      <p:sp>
        <p:nvSpPr>
          <p:cNvPr id="15" name="Shape 11"/>
          <p:cNvSpPr/>
          <p:nvPr/>
        </p:nvSpPr>
        <p:spPr>
          <a:xfrm>
            <a:off x="6607096" y="4503917"/>
            <a:ext cx="4768949" cy="1212850"/>
          </a:xfrm>
          <a:prstGeom prst="roundRect">
            <a:avLst>
              <a:gd name="adj" fmla="val 8115"/>
            </a:avLst>
          </a:prstGeom>
          <a:solidFill>
            <a:srgbClr val="FCFBF7"/>
          </a:solidFill>
          <a:ln w="6350">
            <a:solidFill>
              <a:srgbClr val="DCD5C4"/>
            </a:solidFill>
            <a:prstDash val="solid"/>
          </a:ln>
        </p:spPr>
        <p:txBody>
          <a:bodyPr/>
          <a:lstStyle/>
          <a:p>
            <a:endParaRPr lang="en-SG"/>
          </a:p>
        </p:txBody>
      </p:sp>
      <p:sp>
        <p:nvSpPr>
          <p:cNvPr id="16" name="Text 12"/>
          <p:cNvSpPr/>
          <p:nvPr/>
        </p:nvSpPr>
        <p:spPr>
          <a:xfrm>
            <a:off x="6760131" y="4656956"/>
            <a:ext cx="4596766"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How it was validated</a:t>
            </a:r>
            <a:endParaRPr lang="en-US" sz="1400" dirty="0"/>
          </a:p>
        </p:txBody>
      </p:sp>
      <p:sp>
        <p:nvSpPr>
          <p:cNvPr id="17" name="Text 13"/>
          <p:cNvSpPr/>
          <p:nvPr/>
        </p:nvSpPr>
        <p:spPr>
          <a:xfrm>
            <a:off x="6760131" y="4946514"/>
            <a:ext cx="4596766" cy="6426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34C58"/>
                </a:solidFill>
                <a:latin typeface="IBM Plex Sans" pitchFamily="34" charset="0"/>
                <a:ea typeface="IBM Plex Sans" pitchFamily="34" charset="-122"/>
                <a:cs typeface="IBM Plex Sans" pitchFamily="34" charset="-120"/>
              </a:rPr>
              <a:t>Stratified 5-fold CV, everything refit inside each fold. PR-AUC </a:t>
            </a:r>
            <a:r>
              <a:rPr lang="en-US" sz="1200" b="1" dirty="0">
                <a:solidFill>
                  <a:srgbClr val="434C58"/>
                </a:solidFill>
                <a:latin typeface="IBM Plex Sans" pitchFamily="34" charset="0"/>
                <a:ea typeface="IBM Plex Sans" pitchFamily="34" charset="-122"/>
                <a:cs typeface="IBM Plex Sans" pitchFamily="34" charset="-120"/>
              </a:rPr>
              <a:t>0.2365</a:t>
            </a:r>
            <a:r>
              <a:rPr lang="en-US" sz="1200" dirty="0">
                <a:solidFill>
                  <a:srgbClr val="434C58"/>
                </a:solidFill>
                <a:latin typeface="IBM Plex Sans" pitchFamily="34" charset="0"/>
                <a:ea typeface="IBM Plex Sans" pitchFamily="34" charset="-122"/>
                <a:cs typeface="IBM Plex Sans" pitchFamily="34" charset="-120"/>
              </a:rPr>
              <a:t> pooled; </a:t>
            </a:r>
            <a:r>
              <a:rPr lang="en-US" sz="1200" b="1" dirty="0">
                <a:solidFill>
                  <a:srgbClr val="434C58"/>
                </a:solidFill>
                <a:latin typeface="IBM Plex Sans" pitchFamily="34" charset="0"/>
                <a:ea typeface="IBM Plex Sans" pitchFamily="34" charset="-122"/>
                <a:cs typeface="IBM Plex Sans" pitchFamily="34" charset="-120"/>
              </a:rPr>
              <a:t>0.2330</a:t>
            </a:r>
            <a:r>
              <a:rPr lang="en-US" sz="1200" dirty="0">
                <a:solidFill>
                  <a:srgbClr val="434C58"/>
                </a:solidFill>
                <a:latin typeface="IBM Plex Sans" pitchFamily="34" charset="0"/>
                <a:ea typeface="IBM Plex Sans" pitchFamily="34" charset="-122"/>
                <a:cs typeface="IBM Plex Sans" pitchFamily="34" charset="-120"/>
              </a:rPr>
              <a:t> over 25 repeated folds (SD 0.0046); 13× random.</a:t>
            </a:r>
            <a:endParaRPr lang="en-US" sz="1200" dirty="0"/>
          </a:p>
        </p:txBody>
      </p:sp>
      <p:sp>
        <p:nvSpPr>
          <p:cNvPr id="18" name="Text 14"/>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#2756 OOF, seed-17 5-fold, all 20,000 rows; repeated_validation/RESULTS.md (25 folds)</a:t>
            </a:r>
            <a:endParaRPr lang="en-US" sz="1200" dirty="0"/>
          </a:p>
        </p:txBody>
      </p:sp>
      <p:sp>
        <p:nvSpPr>
          <p:cNvPr id="19" name="Text 15"/>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OPERATING POINT</a:t>
            </a:r>
            <a:endParaRPr lang="en-US" sz="1200" dirty="0"/>
          </a:p>
        </p:txBody>
      </p:sp>
      <p:sp>
        <p:nvSpPr>
          <p:cNvPr id="3" name="Text 1"/>
          <p:cNvSpPr>
            <a:spLocks noGrp="1"/>
          </p:cNvSpPr>
          <p:nvPr>
            <p:ph type="title"/>
          </p:nvPr>
        </p:nvSpPr>
        <p:spPr>
          <a:xfrm>
            <a:off x="812780" y="1102345"/>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Choosing a cut-off is a business decision</a:t>
            </a:r>
            <a:endParaRPr lang="en-US" sz="3000" dirty="0"/>
          </a:p>
        </p:txBody>
      </p:sp>
      <p:sp>
        <p:nvSpPr>
          <p:cNvPr id="4" name="Shape 2"/>
          <p:cNvSpPr/>
          <p:nvPr/>
        </p:nvSpPr>
        <p:spPr>
          <a:xfrm>
            <a:off x="815955" y="1727795"/>
            <a:ext cx="5175250" cy="2368411"/>
          </a:xfrm>
          <a:prstGeom prst="roundRect">
            <a:avLst>
              <a:gd name="adj" fmla="val 4156"/>
            </a:avLst>
          </a:prstGeom>
          <a:solidFill>
            <a:srgbClr val="FCFBF7"/>
          </a:solidFill>
          <a:ln w="6350">
            <a:solidFill>
              <a:srgbClr val="DCD5C4"/>
            </a:solidFill>
            <a:prstDash val="solid"/>
          </a:ln>
        </p:spPr>
        <p:txBody>
          <a:bodyPr/>
          <a:lstStyle/>
          <a:p>
            <a:endParaRPr lang="en-SG"/>
          </a:p>
        </p:txBody>
      </p:sp>
      <p:sp>
        <p:nvSpPr>
          <p:cNvPr id="5" name="Text 3"/>
          <p:cNvSpPr/>
          <p:nvPr/>
        </p:nvSpPr>
        <p:spPr>
          <a:xfrm>
            <a:off x="1019770" y="1931615"/>
            <a:ext cx="49106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cut-off ≥ 0.194</a:t>
            </a:r>
            <a:endParaRPr lang="en-US" sz="1200" dirty="0"/>
          </a:p>
        </p:txBody>
      </p:sp>
      <p:sp>
        <p:nvSpPr>
          <p:cNvPr id="6" name="Text 4"/>
          <p:cNvSpPr/>
          <p:nvPr/>
        </p:nvSpPr>
        <p:spPr>
          <a:xfrm>
            <a:off x="1019770" y="2221173"/>
            <a:ext cx="491064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2C"/>
                </a:solidFill>
                <a:latin typeface="IBM Plex Sans" pitchFamily="34" charset="0"/>
                <a:ea typeface="IBM Plex Sans" pitchFamily="34" charset="-122"/>
                <a:cs typeface="IBM Plex Sans" pitchFamily="34" charset="-120"/>
              </a:rPr>
              <a:t>Best-F1 policy</a:t>
            </a:r>
            <a:endParaRPr lang="en-US" sz="1800" dirty="0"/>
          </a:p>
        </p:txBody>
      </p:sp>
      <p:sp>
        <p:nvSpPr>
          <p:cNvPr id="7" name="Text 5"/>
          <p:cNvSpPr/>
          <p:nvPr/>
        </p:nvSpPr>
        <p:spPr>
          <a:xfrm>
            <a:off x="1019770" y="2571694"/>
            <a:ext cx="1065153" cy="53338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B44D19"/>
                </a:solidFill>
                <a:latin typeface="Source Serif 4" pitchFamily="18" charset="0"/>
                <a:ea typeface="Source Serif 4" pitchFamily="18" charset="-122"/>
                <a:cs typeface="Source Serif 4" pitchFamily="18" charset="-120"/>
              </a:rPr>
              <a:t>83</a:t>
            </a:r>
            <a:endParaRPr lang="en-US" sz="4000" dirty="0"/>
          </a:p>
        </p:txBody>
      </p:sp>
      <p:sp>
        <p:nvSpPr>
          <p:cNvPr id="8" name="Text 6"/>
          <p:cNvSpPr/>
          <p:nvPr/>
        </p:nvSpPr>
        <p:spPr>
          <a:xfrm>
            <a:off x="1019770" y="3105032"/>
            <a:ext cx="121722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frauds caught</a:t>
            </a:r>
            <a:endParaRPr lang="en-US" sz="1300" dirty="0"/>
          </a:p>
        </p:txBody>
      </p:sp>
      <p:sp>
        <p:nvSpPr>
          <p:cNvPr id="9" name="Text 7"/>
          <p:cNvSpPr/>
          <p:nvPr/>
        </p:nvSpPr>
        <p:spPr>
          <a:xfrm>
            <a:off x="2338923" y="2571694"/>
            <a:ext cx="953710" cy="53338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2E5E8C"/>
                </a:solidFill>
                <a:latin typeface="Source Serif 4" pitchFamily="18" charset="0"/>
                <a:ea typeface="Source Serif 4" pitchFamily="18" charset="-122"/>
                <a:cs typeface="Source Serif 4" pitchFamily="18" charset="-120"/>
              </a:rPr>
              <a:t>105</a:t>
            </a:r>
            <a:endParaRPr lang="en-US" sz="4000" dirty="0"/>
          </a:p>
        </p:txBody>
      </p:sp>
      <p:sp>
        <p:nvSpPr>
          <p:cNvPr id="10" name="Text 8"/>
          <p:cNvSpPr/>
          <p:nvPr/>
        </p:nvSpPr>
        <p:spPr>
          <a:xfrm>
            <a:off x="2338923" y="3105032"/>
            <a:ext cx="1083493"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false alarms</a:t>
            </a:r>
            <a:endParaRPr lang="en-US" sz="1300" dirty="0"/>
          </a:p>
        </p:txBody>
      </p:sp>
      <p:sp>
        <p:nvSpPr>
          <p:cNvPr id="11" name="Text 9"/>
          <p:cNvSpPr/>
          <p:nvPr/>
        </p:nvSpPr>
        <p:spPr>
          <a:xfrm>
            <a:off x="1019770" y="3412331"/>
            <a:ext cx="491064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Precision 44.1% · recall 23.5%</a:t>
            </a:r>
            <a:endParaRPr lang="en-US" sz="1400" dirty="0"/>
          </a:p>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1.3 false alarms per fraud caught</a:t>
            </a:r>
            <a:endParaRPr lang="en-US" sz="1400" dirty="0"/>
          </a:p>
        </p:txBody>
      </p:sp>
      <p:sp>
        <p:nvSpPr>
          <p:cNvPr id="12" name="Shape 10"/>
          <p:cNvSpPr/>
          <p:nvPr/>
        </p:nvSpPr>
        <p:spPr>
          <a:xfrm>
            <a:off x="6200735" y="1727795"/>
            <a:ext cx="5175310" cy="2368411"/>
          </a:xfrm>
          <a:prstGeom prst="roundRect">
            <a:avLst>
              <a:gd name="adj" fmla="val 4156"/>
            </a:avLst>
          </a:prstGeom>
          <a:solidFill>
            <a:srgbClr val="FCFBF7"/>
          </a:solidFill>
          <a:ln w="6350">
            <a:solidFill>
              <a:srgbClr val="DCD5C4"/>
            </a:solidFill>
            <a:prstDash val="solid"/>
          </a:ln>
        </p:spPr>
        <p:txBody>
          <a:bodyPr/>
          <a:lstStyle/>
          <a:p>
            <a:endParaRPr lang="en-SG"/>
          </a:p>
        </p:txBody>
      </p:sp>
      <p:sp>
        <p:nvSpPr>
          <p:cNvPr id="13" name="Text 11"/>
          <p:cNvSpPr/>
          <p:nvPr/>
        </p:nvSpPr>
        <p:spPr>
          <a:xfrm>
            <a:off x="6404551" y="1931615"/>
            <a:ext cx="49107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5E8C"/>
                </a:solidFill>
                <a:latin typeface="IBM Plex Mono" pitchFamily="49" charset="0"/>
                <a:ea typeface="IBM Plex Mono" pitchFamily="49" charset="-122"/>
                <a:cs typeface="IBM Plex Mono" pitchFamily="49" charset="-120"/>
              </a:rPr>
              <a:t>cut-off ≥ 0.05</a:t>
            </a:r>
            <a:endParaRPr lang="en-US" sz="1200" dirty="0"/>
          </a:p>
        </p:txBody>
      </p:sp>
      <p:sp>
        <p:nvSpPr>
          <p:cNvPr id="14" name="Text 12"/>
          <p:cNvSpPr/>
          <p:nvPr/>
        </p:nvSpPr>
        <p:spPr>
          <a:xfrm>
            <a:off x="6404551" y="2221173"/>
            <a:ext cx="491071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12C"/>
                </a:solidFill>
                <a:latin typeface="IBM Plex Sans" pitchFamily="34" charset="0"/>
                <a:ea typeface="IBM Plex Sans" pitchFamily="34" charset="-122"/>
                <a:cs typeface="IBM Plex Sans" pitchFamily="34" charset="-120"/>
              </a:rPr>
              <a:t>Recall-leaning policy</a:t>
            </a:r>
            <a:endParaRPr lang="en-US" sz="1800" dirty="0"/>
          </a:p>
        </p:txBody>
      </p:sp>
      <p:sp>
        <p:nvSpPr>
          <p:cNvPr id="15" name="Text 13"/>
          <p:cNvSpPr/>
          <p:nvPr/>
        </p:nvSpPr>
        <p:spPr>
          <a:xfrm>
            <a:off x="6404551" y="2571694"/>
            <a:ext cx="1065153" cy="53338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B44D19"/>
                </a:solidFill>
                <a:latin typeface="Source Serif 4" pitchFamily="18" charset="0"/>
                <a:ea typeface="Source Serif 4" pitchFamily="18" charset="-122"/>
                <a:cs typeface="Source Serif 4" pitchFamily="18" charset="-120"/>
              </a:rPr>
              <a:t>137</a:t>
            </a:r>
            <a:endParaRPr lang="en-US" sz="4000" dirty="0"/>
          </a:p>
        </p:txBody>
      </p:sp>
      <p:sp>
        <p:nvSpPr>
          <p:cNvPr id="16" name="Text 14"/>
          <p:cNvSpPr/>
          <p:nvPr/>
        </p:nvSpPr>
        <p:spPr>
          <a:xfrm>
            <a:off x="6404551" y="3105032"/>
            <a:ext cx="1217224"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frauds caught</a:t>
            </a:r>
            <a:endParaRPr lang="en-US" sz="1300" dirty="0"/>
          </a:p>
        </p:txBody>
      </p:sp>
      <p:sp>
        <p:nvSpPr>
          <p:cNvPr id="17" name="Text 15"/>
          <p:cNvSpPr/>
          <p:nvPr/>
        </p:nvSpPr>
        <p:spPr>
          <a:xfrm>
            <a:off x="7723704" y="2571694"/>
            <a:ext cx="953710" cy="533380"/>
          </a:xfrm>
          <a:prstGeom prst="rect">
            <a:avLst/>
          </a:prstGeom>
          <a:noFill/>
          <a:ln/>
        </p:spPr>
        <p:txBody>
          <a:bodyPr wrap="square" lIns="0" tIns="0" rIns="0" bIns="0" rtlCol="0" anchor="t">
            <a:normAutofit/>
          </a:bodyPr>
          <a:lstStyle/>
          <a:p>
            <a:pPr marL="0" indent="0" algn="l">
              <a:lnSpc>
                <a:spcPts val="4000"/>
              </a:lnSpc>
              <a:buNone/>
            </a:pPr>
            <a:r>
              <a:rPr lang="en-US" sz="4000" b="1" dirty="0">
                <a:solidFill>
                  <a:srgbClr val="2E5E8C"/>
                </a:solidFill>
                <a:latin typeface="Source Serif 4" pitchFamily="18" charset="0"/>
                <a:ea typeface="Source Serif 4" pitchFamily="18" charset="-122"/>
                <a:cs typeface="Source Serif 4" pitchFamily="18" charset="-120"/>
              </a:rPr>
              <a:t>788</a:t>
            </a:r>
            <a:endParaRPr lang="en-US" sz="4000" dirty="0"/>
          </a:p>
        </p:txBody>
      </p:sp>
      <p:sp>
        <p:nvSpPr>
          <p:cNvPr id="18" name="Text 16"/>
          <p:cNvSpPr/>
          <p:nvPr/>
        </p:nvSpPr>
        <p:spPr>
          <a:xfrm>
            <a:off x="7723704" y="3105032"/>
            <a:ext cx="1083493"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false alarms</a:t>
            </a:r>
            <a:endParaRPr lang="en-US" sz="1300" dirty="0"/>
          </a:p>
        </p:txBody>
      </p:sp>
      <p:sp>
        <p:nvSpPr>
          <p:cNvPr id="19" name="Text 17"/>
          <p:cNvSpPr/>
          <p:nvPr/>
        </p:nvSpPr>
        <p:spPr>
          <a:xfrm>
            <a:off x="6404551" y="3412331"/>
            <a:ext cx="4910710"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Precision 14.8% · recall 38.8%</a:t>
            </a:r>
            <a:endParaRPr lang="en-US" sz="1400" dirty="0"/>
          </a:p>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5.8 false alarms per fraud caught</a:t>
            </a:r>
            <a:endParaRPr lang="en-US" sz="1400" dirty="0"/>
          </a:p>
        </p:txBody>
      </p:sp>
      <p:sp>
        <p:nvSpPr>
          <p:cNvPr id="20" name="Shape 18"/>
          <p:cNvSpPr/>
          <p:nvPr/>
        </p:nvSpPr>
        <p:spPr>
          <a:xfrm>
            <a:off x="815955" y="4305740"/>
            <a:ext cx="10560090" cy="1207671"/>
          </a:xfrm>
          <a:prstGeom prst="roundRect">
            <a:avLst>
              <a:gd name="adj" fmla="val 8150"/>
            </a:avLst>
          </a:prstGeom>
          <a:solidFill>
            <a:srgbClr val="FCFBF7"/>
          </a:solidFill>
          <a:ln w="6350">
            <a:solidFill>
              <a:srgbClr val="DCD5C4"/>
            </a:solidFill>
            <a:prstDash val="solid"/>
          </a:ln>
        </p:spPr>
        <p:txBody>
          <a:bodyPr/>
          <a:lstStyle/>
          <a:p>
            <a:endParaRPr lang="en-SG"/>
          </a:p>
        </p:txBody>
      </p:sp>
      <p:sp>
        <p:nvSpPr>
          <p:cNvPr id="21" name="Text 19"/>
          <p:cNvSpPr/>
          <p:nvPr/>
        </p:nvSpPr>
        <p:spPr>
          <a:xfrm>
            <a:off x="1019770" y="4509554"/>
            <a:ext cx="1045703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212C"/>
                </a:solidFill>
                <a:latin typeface="IBM Plex Sans" pitchFamily="34" charset="0"/>
                <a:ea typeface="IBM Plex Sans" pitchFamily="34" charset="-122"/>
                <a:cs typeface="IBM Plex Sans" pitchFamily="34" charset="-120"/>
              </a:rPr>
              <a:t>Recommendation: the score triggers a step-up check, not a card block</a:t>
            </a:r>
            <a:endParaRPr lang="en-US" sz="1600" dirty="0"/>
          </a:p>
        </p:txBody>
      </p:sp>
      <p:sp>
        <p:nvSpPr>
          <p:cNvPr id="22" name="Text 20"/>
          <p:cNvSpPr/>
          <p:nvPr/>
        </p:nvSpPr>
        <p:spPr>
          <a:xfrm>
            <a:off x="1019770" y="4829535"/>
            <a:ext cx="1045703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An OTP costs a legitimate customer seconds; a blocked card costs far more. Set the cut-off from review capacity and re-check it live: on test, the 0.194 cut-off flags 1.55% of rows vs 0.94% in validation.</a:t>
            </a:r>
            <a:endParaRPr lang="en-US" sz="1400" dirty="0"/>
          </a:p>
        </p:txBody>
      </p:sp>
      <p:sp>
        <p:nvSpPr>
          <p:cNvPr id="23" name="Text 21"/>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#2756 OOF on 20,000 training rows (best F1 = 0.307); test flag rate from the scored #2756 CSV</a:t>
            </a:r>
            <a:endParaRPr lang="en-US" sz="1200" dirty="0"/>
          </a:p>
        </p:txBody>
      </p:sp>
      <p:sp>
        <p:nvSpPr>
          <p:cNvPr id="24" name="Text 22"/>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ERROR ANALYSIS</a:t>
            </a:r>
            <a:endParaRPr lang="en-US" sz="1200" dirty="0"/>
          </a:p>
        </p:txBody>
      </p:sp>
      <p:sp>
        <p:nvSpPr>
          <p:cNvPr id="3" name="Text 1"/>
          <p:cNvSpPr>
            <a:spLocks noGrp="1"/>
          </p:cNvSpPr>
          <p:nvPr>
            <p:ph type="title"/>
          </p:nvPr>
        </p:nvSpPr>
        <p:spPr>
          <a:xfrm>
            <a:off x="812780" y="1102345"/>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We catch the obvious fraud and miss the quiet kind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761475"/>
          <a:ext cx="6719531" cy="3326901"/>
        </p:xfrm>
        <a:graphic>
          <a:graphicData uri="http://schemas.openxmlformats.org/drawingml/2006/table">
            <a:tbl>
              <a:tblPr/>
              <a:tblGrid>
                <a:gridCol w="2284640">
                  <a:extLst>
                    <a:ext uri="{9D8B030D-6E8A-4147-A177-3AD203B41FA5}">
                      <a16:colId xmlns:a16="http://schemas.microsoft.com/office/drawing/2014/main" val="20000"/>
                    </a:ext>
                  </a:extLst>
                </a:gridCol>
                <a:gridCol w="1478297">
                  <a:extLst>
                    <a:ext uri="{9D8B030D-6E8A-4147-A177-3AD203B41FA5}">
                      <a16:colId xmlns:a16="http://schemas.microsoft.com/office/drawing/2014/main" val="20001"/>
                    </a:ext>
                  </a:extLst>
                </a:gridCol>
                <a:gridCol w="1478297">
                  <a:extLst>
                    <a:ext uri="{9D8B030D-6E8A-4147-A177-3AD203B41FA5}">
                      <a16:colId xmlns:a16="http://schemas.microsoft.com/office/drawing/2014/main" val="20002"/>
                    </a:ext>
                  </a:extLst>
                </a:gridCol>
                <a:gridCol w="1478297">
                  <a:extLst>
                    <a:ext uri="{9D8B030D-6E8A-4147-A177-3AD203B41FA5}">
                      <a16:colId xmlns:a16="http://schemas.microsoft.com/office/drawing/2014/main" val="20003"/>
                    </a:ext>
                  </a:extLst>
                </a:gridCol>
              </a:tblGrid>
              <a:tr h="633651">
                <a:tc>
                  <a:txBody>
                    <a:bodyPr/>
                    <a:lstStyle/>
                    <a:p>
                      <a:pPr marL="0" indent="0">
                        <a:lnSpc>
                          <a:spcPts val="1960"/>
                        </a:lnSpc>
                        <a:buNone/>
                      </a:pP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960"/>
                        </a:lnSpc>
                        <a:buNone/>
                      </a:pPr>
                      <a:r>
                        <a:rPr lang="en-US" sz="1400" b="1" dirty="0">
                          <a:solidFill>
                            <a:srgbClr val="B44D19"/>
                          </a:solidFill>
                          <a:latin typeface="IBM Plex Sans" pitchFamily="34" charset="0"/>
                          <a:ea typeface="IBM Plex Sans" pitchFamily="34" charset="-122"/>
                          <a:cs typeface="IBM Plex Sans" pitchFamily="34" charset="-120"/>
                        </a:rPr>
                        <a:t>Caught (top 200)</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960"/>
                        </a:lnSpc>
                        <a:buNone/>
                      </a:pPr>
                      <a:r>
                        <a:rPr lang="en-US" sz="1400" b="1" dirty="0">
                          <a:solidFill>
                            <a:srgbClr val="17212C"/>
                          </a:solidFill>
                          <a:latin typeface="IBM Plex Sans" pitchFamily="34" charset="0"/>
                          <a:ea typeface="IBM Plex Sans" pitchFamily="34" charset="-122"/>
                          <a:cs typeface="IBM Plex Sans" pitchFamily="34" charset="-120"/>
                        </a:rPr>
                        <a:t>Missed fraud</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marL="0" indent="0" algn="r">
                        <a:lnSpc>
                          <a:spcPts val="1960"/>
                        </a:lnSpc>
                        <a:buNone/>
                      </a:pPr>
                      <a:r>
                        <a:rPr lang="en-US" sz="1400" b="1" dirty="0">
                          <a:solidFill>
                            <a:srgbClr val="2E5E8C"/>
                          </a:solidFill>
                          <a:latin typeface="IBM Plex Sans" pitchFamily="34" charset="0"/>
                          <a:ea typeface="IBM Plex Sans" pitchFamily="34" charset="-122"/>
                          <a:cs typeface="IBM Plex Sans" pitchFamily="34" charset="-120"/>
                        </a:rPr>
                        <a:t>Legitimate</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extLst>
                  <a:ext uri="{0D108BD9-81ED-4DB2-BD59-A6C34878D82A}">
                    <a16:rowId xmlns:a16="http://schemas.microsoft.com/office/drawing/2014/main" val="10000"/>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Median account age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55 days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645 days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796 days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On a new device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95%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8.5%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8.5%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Account &lt; 90 days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68%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Median last-hour count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Median amount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$609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$130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$74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Night (22:00–04:59)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58%</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32%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29%</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6"/>
                  </a:ext>
                </a:extLst>
              </a:tr>
              <a:tr h="384750">
                <a:tc>
                  <a:txBody>
                    <a:bodyPr/>
                    <a:lstStyle/>
                    <a:p>
                      <a:pPr marL="0" indent="0">
                        <a:lnSpc>
                          <a:spcPts val="1960"/>
                        </a:lnSpc>
                        <a:buNone/>
                      </a:pPr>
                      <a:r>
                        <a:rPr lang="en-US" sz="1400" dirty="0">
                          <a:solidFill>
                            <a:srgbClr val="17212C"/>
                          </a:solidFill>
                          <a:latin typeface="IBM Plex Sans" pitchFamily="34" charset="0"/>
                          <a:ea typeface="IBM Plex Sans" pitchFamily="34" charset="-122"/>
                          <a:cs typeface="IBM Plex Sans" pitchFamily="34" charset="-120"/>
                        </a:rPr>
                        <a:t>Rows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B44D19"/>
                          </a:solidFill>
                          <a:latin typeface="IBM Plex Sans" pitchFamily="34" charset="0"/>
                          <a:ea typeface="IBM Plex Sans" pitchFamily="34" charset="-122"/>
                          <a:cs typeface="IBM Plex Sans" pitchFamily="34" charset="-120"/>
                        </a:rPr>
                        <a:t>84</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17212C"/>
                          </a:solidFill>
                          <a:latin typeface="IBM Plex Sans" pitchFamily="34" charset="0"/>
                          <a:ea typeface="IBM Plex Sans" pitchFamily="34" charset="-122"/>
                          <a:cs typeface="IBM Plex Sans" pitchFamily="34" charset="-120"/>
                        </a:rPr>
                        <a:t>212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gn="r">
                        <a:lnSpc>
                          <a:spcPts val="1960"/>
                        </a:lnSpc>
                        <a:buNone/>
                      </a:pPr>
                      <a:r>
                        <a:rPr lang="en-US" sz="1400" dirty="0">
                          <a:solidFill>
                            <a:srgbClr val="2E5E8C"/>
                          </a:solidFill>
                          <a:latin typeface="IBM Plex Sans" pitchFamily="34" charset="0"/>
                          <a:ea typeface="IBM Plex Sans" pitchFamily="34" charset="-122"/>
                          <a:cs typeface="IBM Plex Sans" pitchFamily="34" charset="-120"/>
                        </a:rPr>
                        <a:t>19,647</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7851716" y="1753220"/>
            <a:ext cx="3524329" cy="4085650"/>
          </a:xfrm>
          <a:prstGeom prst="roundRect">
            <a:avLst>
              <a:gd name="adj" fmla="val 2793"/>
            </a:avLst>
          </a:prstGeom>
          <a:solidFill>
            <a:srgbClr val="FCFBF7"/>
          </a:solidFill>
          <a:ln w="6350">
            <a:solidFill>
              <a:srgbClr val="DCD5C4"/>
            </a:solidFill>
            <a:prstDash val="solid"/>
          </a:ln>
        </p:spPr>
        <p:txBody>
          <a:bodyPr/>
          <a:lstStyle/>
          <a:p>
            <a:endParaRPr lang="en-SG"/>
          </a:p>
        </p:txBody>
      </p:sp>
      <p:sp>
        <p:nvSpPr>
          <p:cNvPr id="6" name="Text 3"/>
          <p:cNvSpPr/>
          <p:nvPr/>
        </p:nvSpPr>
        <p:spPr>
          <a:xfrm>
            <a:off x="8080951" y="1982453"/>
            <a:ext cx="3157835" cy="58422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B44D19"/>
                </a:solidFill>
                <a:latin typeface="Source Serif 4" pitchFamily="18" charset="0"/>
                <a:ea typeface="Source Serif 4" pitchFamily="18" charset="-122"/>
                <a:cs typeface="Source Serif 4" pitchFamily="18" charset="-120"/>
              </a:rPr>
              <a:t>194/212</a:t>
            </a:r>
            <a:endParaRPr lang="en-US" sz="4400" dirty="0"/>
          </a:p>
        </p:txBody>
      </p:sp>
      <p:sp>
        <p:nvSpPr>
          <p:cNvPr id="7" name="Text 4"/>
          <p:cNvSpPr/>
          <p:nvPr/>
        </p:nvSpPr>
        <p:spPr>
          <a:xfrm>
            <a:off x="8080951" y="2617471"/>
            <a:ext cx="3157835"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missed frauds (ranked below 1,000) are on a </a:t>
            </a:r>
            <a:r>
              <a:rPr lang="en-US" sz="1400" b="1" dirty="0">
                <a:solidFill>
                  <a:srgbClr val="434C58"/>
                </a:solidFill>
                <a:latin typeface="IBM Plex Sans" pitchFamily="34" charset="0"/>
                <a:ea typeface="IBM Plex Sans" pitchFamily="34" charset="-122"/>
                <a:cs typeface="IBM Plex Sans" pitchFamily="34" charset="-120"/>
              </a:rPr>
              <a:t>known device</a:t>
            </a:r>
            <a:r>
              <a:rPr lang="en-US" sz="1400" dirty="0">
                <a:solidFill>
                  <a:srgbClr val="434C58"/>
                </a:solidFill>
                <a:latin typeface="IBM Plex Sans" pitchFamily="34" charset="0"/>
                <a:ea typeface="IBM Plex Sans" pitchFamily="34" charset="-122"/>
                <a:cs typeface="IBM Plex Sans" pitchFamily="34" charset="-120"/>
              </a:rPr>
              <a:t>.</a:t>
            </a:r>
            <a:endParaRPr lang="en-US" sz="1400" dirty="0"/>
          </a:p>
        </p:txBody>
      </p:sp>
      <p:sp>
        <p:nvSpPr>
          <p:cNvPr id="8" name="Text 5"/>
          <p:cNvSpPr/>
          <p:nvPr/>
        </p:nvSpPr>
        <p:spPr>
          <a:xfrm>
            <a:off x="8080951" y="3173735"/>
            <a:ext cx="3157835"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PR-AUC within known-device rows: </a:t>
            </a:r>
            <a:r>
              <a:rPr lang="en-US" sz="1400" b="1" dirty="0">
                <a:solidFill>
                  <a:srgbClr val="434C58"/>
                </a:solidFill>
                <a:latin typeface="IBM Plex Sans" pitchFamily="34" charset="0"/>
                <a:ea typeface="IBM Plex Sans" pitchFamily="34" charset="-122"/>
                <a:cs typeface="IBM Plex Sans" pitchFamily="34" charset="-120"/>
              </a:rPr>
              <a:t>0.049</a:t>
            </a:r>
            <a:r>
              <a:rPr lang="en-US" sz="1400" dirty="0">
                <a:solidFill>
                  <a:srgbClr val="434C58"/>
                </a:solidFill>
                <a:latin typeface="IBM Plex Sans" pitchFamily="34" charset="0"/>
                <a:ea typeface="IBM Plex Sans" pitchFamily="34" charset="-122"/>
                <a:cs typeface="IBM Plex Sans" pitchFamily="34" charset="-120"/>
              </a:rPr>
              <a:t>; within new-device rows: </a:t>
            </a:r>
            <a:r>
              <a:rPr lang="en-US" sz="1400" b="1" dirty="0">
                <a:solidFill>
                  <a:srgbClr val="434C58"/>
                </a:solidFill>
                <a:latin typeface="IBM Plex Sans" pitchFamily="34" charset="0"/>
                <a:ea typeface="IBM Plex Sans" pitchFamily="34" charset="-122"/>
                <a:cs typeface="IBM Plex Sans" pitchFamily="34" charset="-120"/>
              </a:rPr>
              <a:t>0.512</a:t>
            </a:r>
            <a:r>
              <a:rPr lang="en-US" sz="1400" dirty="0">
                <a:solidFill>
                  <a:srgbClr val="434C58"/>
                </a:solidFill>
                <a:latin typeface="IBM Plex Sans" pitchFamily="34" charset="0"/>
                <a:ea typeface="IBM Plex Sans" pitchFamily="34" charset="-122"/>
                <a:cs typeface="IBM Plex Sans" pitchFamily="34" charset="-120"/>
              </a:rPr>
              <a:t>.</a:t>
            </a:r>
            <a:endParaRPr lang="en-US" sz="1400" dirty="0"/>
          </a:p>
        </p:txBody>
      </p:sp>
      <p:sp>
        <p:nvSpPr>
          <p:cNvPr id="9" name="Text 6"/>
          <p:cNvSpPr/>
          <p:nvPr/>
        </p:nvSpPr>
        <p:spPr>
          <a:xfrm>
            <a:off x="8080951" y="3970021"/>
            <a:ext cx="3157835"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34C58"/>
                </a:solidFill>
                <a:latin typeface="IBM Plex Sans" pitchFamily="34" charset="0"/>
                <a:ea typeface="IBM Plex Sans" pitchFamily="34" charset="-122"/>
                <a:cs typeface="IBM Plex Sans" pitchFamily="34" charset="-120"/>
              </a:rPr>
              <a:t>Missed fraud looks like legitimate traffic. Catching it needs per-customer history we do not have.</a:t>
            </a:r>
            <a:endParaRPr lang="en-US" sz="1400" dirty="0"/>
          </a:p>
        </p:txBody>
      </p:sp>
      <p:sp>
        <p:nvSpPr>
          <p:cNvPr id="10" name="Text 7"/>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#2756 OOF: frauds in the top 200 vs frauds ranked below 1,000; profiles from train.csv</a:t>
            </a:r>
            <a:endParaRPr lang="en-US" sz="1200" dirty="0"/>
          </a:p>
        </p:txBody>
      </p:sp>
      <p:sp>
        <p:nvSpPr>
          <p:cNvPr id="11" name="Text 8"/>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HONEST LIMITS</a:t>
            </a:r>
            <a:endParaRPr lang="en-US" sz="1200" dirty="0"/>
          </a:p>
        </p:txBody>
      </p:sp>
      <p:sp>
        <p:nvSpPr>
          <p:cNvPr id="3" name="Text 1"/>
          <p:cNvSpPr>
            <a:spLocks noGrp="1"/>
          </p:cNvSpPr>
          <p:nvPr>
            <p:ph type="title"/>
          </p:nvPr>
        </p:nvSpPr>
        <p:spPr>
          <a:xfrm>
            <a:off x="812780" y="1102345"/>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A noisy leaderboard and a shifted test set</a:t>
            </a:r>
            <a:endParaRPr lang="en-US" sz="3000" dirty="0"/>
          </a:p>
        </p:txBody>
      </p:sp>
      <p:pic>
        <p:nvPicPr>
          <p:cNvPr id="4" name="Image 0" descr="Scatter of local cross-validated PR-AUC against public PR-AUC for 11 submissions; no consistent relationship"/>
          <p:cNvPicPr>
            <a:picLocks noChangeAspect="1"/>
          </p:cNvPicPr>
          <p:nvPr/>
        </p:nvPicPr>
        <p:blipFill>
          <a:blip r:embed="rId3"/>
          <a:srcRect l="-1" r="-1"/>
          <a:stretch/>
        </p:blipFill>
        <p:spPr>
          <a:xfrm>
            <a:off x="1422380" y="1750045"/>
            <a:ext cx="5206960" cy="2857441"/>
          </a:xfrm>
          <a:prstGeom prst="rect">
            <a:avLst/>
          </a:prstGeom>
        </p:spPr>
      </p:pic>
      <p:sp>
        <p:nvSpPr>
          <p:cNvPr id="5" name="Text 2"/>
          <p:cNvSpPr/>
          <p:nvPr/>
        </p:nvSpPr>
        <p:spPr>
          <a:xfrm>
            <a:off x="1968460" y="3312145"/>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#370</a:t>
            </a:r>
            <a:endParaRPr lang="en-US" sz="1200" dirty="0"/>
          </a:p>
        </p:txBody>
      </p:sp>
      <p:sp>
        <p:nvSpPr>
          <p:cNvPr id="6" name="Text 3"/>
          <p:cNvSpPr/>
          <p:nvPr/>
        </p:nvSpPr>
        <p:spPr>
          <a:xfrm>
            <a:off x="3790296" y="4124927"/>
            <a:ext cx="2419944" cy="23876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#964: best CV, worst public</a:t>
            </a:r>
            <a:endParaRPr lang="en-US" sz="1200" dirty="0"/>
          </a:p>
        </p:txBody>
      </p:sp>
      <p:sp>
        <p:nvSpPr>
          <p:cNvPr id="7" name="Text 4"/>
          <p:cNvSpPr/>
          <p:nvPr/>
        </p:nvSpPr>
        <p:spPr>
          <a:xfrm>
            <a:off x="5619691" y="1915120"/>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#2573</a:t>
            </a:r>
            <a:endParaRPr lang="en-US" sz="1200" dirty="0"/>
          </a:p>
        </p:txBody>
      </p:sp>
      <p:sp>
        <p:nvSpPr>
          <p:cNvPr id="8" name="Text 5"/>
          <p:cNvSpPr/>
          <p:nvPr/>
        </p:nvSpPr>
        <p:spPr>
          <a:xfrm>
            <a:off x="5549860" y="3197845"/>
            <a:ext cx="8128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12C"/>
                </a:solidFill>
                <a:latin typeface="IBM Plex Sans" pitchFamily="34" charset="0"/>
                <a:ea typeface="IBM Plex Sans" pitchFamily="34" charset="-122"/>
                <a:cs typeface="IBM Plex Sans" pitchFamily="34" charset="-120"/>
              </a:rPr>
              <a:t>#2651</a:t>
            </a:r>
            <a:endParaRPr lang="en-US" sz="1200" dirty="0"/>
          </a:p>
        </p:txBody>
      </p:sp>
      <p:sp>
        <p:nvSpPr>
          <p:cNvPr id="9" name="Text 6"/>
          <p:cNvSpPr/>
          <p:nvPr/>
        </p:nvSpPr>
        <p:spPr>
          <a:xfrm>
            <a:off x="4737080" y="1845295"/>
            <a:ext cx="1896725"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44D19"/>
                </a:solidFill>
                <a:latin typeface="IBM Plex Sans" pitchFamily="34" charset="0"/>
                <a:ea typeface="IBM Plex Sans" pitchFamily="34" charset="-122"/>
                <a:cs typeface="IBM Plex Sans" pitchFamily="34" charset="-120"/>
              </a:rPr>
              <a:t>#2756 final · 0.18900</a:t>
            </a:r>
            <a:endParaRPr lang="en-US" sz="1200" dirty="0"/>
          </a:p>
        </p:txBody>
      </p:sp>
      <p:sp>
        <p:nvSpPr>
          <p:cNvPr id="10" name="Text 7"/>
          <p:cNvSpPr/>
          <p:nvPr/>
        </p:nvSpPr>
        <p:spPr>
          <a:xfrm>
            <a:off x="761980" y="1870652"/>
            <a:ext cx="5842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.189</a:t>
            </a:r>
            <a:endParaRPr lang="en-US" sz="1200" dirty="0"/>
          </a:p>
        </p:txBody>
      </p:sp>
      <p:sp>
        <p:nvSpPr>
          <p:cNvPr id="11" name="Text 8"/>
          <p:cNvSpPr/>
          <p:nvPr/>
        </p:nvSpPr>
        <p:spPr>
          <a:xfrm>
            <a:off x="761980" y="3845545"/>
            <a:ext cx="5842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.180</a:t>
            </a:r>
            <a:endParaRPr lang="en-US" sz="1200" dirty="0"/>
          </a:p>
        </p:txBody>
      </p:sp>
      <p:sp>
        <p:nvSpPr>
          <p:cNvPr id="12" name="Text 9"/>
          <p:cNvSpPr/>
          <p:nvPr/>
        </p:nvSpPr>
        <p:spPr>
          <a:xfrm>
            <a:off x="2235180" y="4658327"/>
            <a:ext cx="68576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626D"/>
                </a:solidFill>
                <a:latin typeface="IBM Plex Mono" pitchFamily="49" charset="0"/>
                <a:ea typeface="IBM Plex Mono" pitchFamily="49" charset="-122"/>
                <a:cs typeface="IBM Plex Mono" pitchFamily="49" charset="-120"/>
              </a:rPr>
              <a:t>0.233</a:t>
            </a:r>
            <a:endParaRPr lang="en-US" sz="1200" dirty="0"/>
          </a:p>
        </p:txBody>
      </p:sp>
      <p:sp>
        <p:nvSpPr>
          <p:cNvPr id="13" name="Text 10"/>
          <p:cNvSpPr/>
          <p:nvPr/>
        </p:nvSpPr>
        <p:spPr>
          <a:xfrm>
            <a:off x="4552910" y="4658327"/>
            <a:ext cx="685760" cy="23876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A626D"/>
                </a:solidFill>
                <a:latin typeface="IBM Plex Mono" pitchFamily="49" charset="0"/>
                <a:ea typeface="IBM Plex Mono" pitchFamily="49" charset="-122"/>
                <a:cs typeface="IBM Plex Mono" pitchFamily="49" charset="-120"/>
              </a:rPr>
              <a:t>0.237</a:t>
            </a:r>
            <a:endParaRPr lang="en-US" sz="1200" dirty="0"/>
          </a:p>
        </p:txBody>
      </p:sp>
      <p:sp>
        <p:nvSpPr>
          <p:cNvPr id="14" name="Text 11"/>
          <p:cNvSpPr/>
          <p:nvPr/>
        </p:nvSpPr>
        <p:spPr>
          <a:xfrm>
            <a:off x="1422380" y="4912345"/>
            <a:ext cx="53631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26D"/>
                </a:solidFill>
                <a:latin typeface="IBM Plex Sans" pitchFamily="34" charset="0"/>
                <a:ea typeface="IBM Plex Sans" pitchFamily="34" charset="-122"/>
                <a:cs typeface="IBM Plex Sans" pitchFamily="34" charset="-120"/>
              </a:rPr>
              <a:t>Local cross-validated PR-AUC → · y: public leaderboard PR-AUC</a:t>
            </a:r>
            <a:endParaRPr lang="en-US" sz="1200" dirty="0"/>
          </a:p>
        </p:txBody>
      </p:sp>
      <p:sp>
        <p:nvSpPr>
          <p:cNvPr id="15" name="Text 12"/>
          <p:cNvSpPr/>
          <p:nvPr/>
        </p:nvSpPr>
        <p:spPr>
          <a:xfrm>
            <a:off x="1422380" y="5308464"/>
            <a:ext cx="1141333" cy="431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44D19"/>
                </a:solidFill>
                <a:latin typeface="Source Serif 4" pitchFamily="18" charset="0"/>
                <a:ea typeface="Source Serif 4" pitchFamily="18" charset="-122"/>
                <a:cs typeface="Source Serif 4" pitchFamily="18" charset="-120"/>
              </a:rPr>
              <a:t>−0.06</a:t>
            </a:r>
            <a:endParaRPr lang="en-US" sz="3200" dirty="0"/>
          </a:p>
        </p:txBody>
      </p:sp>
      <p:sp>
        <p:nvSpPr>
          <p:cNvPr id="16" name="Text 13"/>
          <p:cNvSpPr/>
          <p:nvPr/>
        </p:nvSpPr>
        <p:spPr>
          <a:xfrm>
            <a:off x="2563713" y="5280602"/>
            <a:ext cx="4185879"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34C58"/>
                </a:solidFill>
                <a:latin typeface="IBM Plex Sans" pitchFamily="34" charset="0"/>
                <a:ea typeface="IBM Plex Sans" pitchFamily="34" charset="-122"/>
                <a:cs typeface="IBM Plex Sans" pitchFamily="34" charset="-120"/>
              </a:rPr>
              <a:t>rank correlation of local CV vs public score across 11 submissions. The public slice has ~60–100 frauds.</a:t>
            </a:r>
            <a:endParaRPr lang="en-US" sz="1300" dirty="0"/>
          </a:p>
        </p:txBody>
      </p:sp>
      <p:sp>
        <p:nvSpPr>
          <p:cNvPr id="17" name="Shape 14"/>
          <p:cNvSpPr/>
          <p:nvPr/>
        </p:nvSpPr>
        <p:spPr>
          <a:xfrm>
            <a:off x="6886476" y="1753220"/>
            <a:ext cx="4489569" cy="1662371"/>
          </a:xfrm>
          <a:prstGeom prst="roundRect">
            <a:avLst>
              <a:gd name="adj" fmla="val 5921"/>
            </a:avLst>
          </a:prstGeom>
          <a:solidFill>
            <a:srgbClr val="FCFBF7"/>
          </a:solidFill>
          <a:ln w="6350">
            <a:solidFill>
              <a:srgbClr val="DCD5C4"/>
            </a:solidFill>
            <a:prstDash val="solid"/>
          </a:ln>
        </p:spPr>
        <p:txBody>
          <a:bodyPr/>
          <a:lstStyle/>
          <a:p>
            <a:endParaRPr lang="en-SG"/>
          </a:p>
        </p:txBody>
      </p:sp>
      <p:sp>
        <p:nvSpPr>
          <p:cNvPr id="18" name="Text 15"/>
          <p:cNvSpPr/>
          <p:nvPr/>
        </p:nvSpPr>
        <p:spPr>
          <a:xfrm>
            <a:off x="7064871" y="1931615"/>
            <a:ext cx="918627" cy="431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B44D19"/>
                </a:solidFill>
                <a:latin typeface="Source Serif 4" pitchFamily="18" charset="0"/>
                <a:ea typeface="Source Serif 4" pitchFamily="18" charset="-122"/>
                <a:cs typeface="Source Serif 4" pitchFamily="18" charset="-120"/>
              </a:rPr>
              <a:t>0.67</a:t>
            </a:r>
            <a:endParaRPr lang="en-US" sz="3200" dirty="0"/>
          </a:p>
        </p:txBody>
      </p:sp>
      <p:sp>
        <p:nvSpPr>
          <p:cNvPr id="19" name="Text 16"/>
          <p:cNvSpPr/>
          <p:nvPr/>
        </p:nvSpPr>
        <p:spPr>
          <a:xfrm>
            <a:off x="7983498" y="2091630"/>
            <a:ext cx="226506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12C"/>
                </a:solidFill>
                <a:latin typeface="IBM Plex Sans" pitchFamily="34" charset="0"/>
                <a:ea typeface="IBM Plex Sans" pitchFamily="34" charset="-122"/>
                <a:cs typeface="IBM Plex Sans" pitchFamily="34" charset="-120"/>
              </a:rPr>
              <a:t>The test set is shifted</a:t>
            </a:r>
            <a:endParaRPr lang="en-US" sz="1500" dirty="0"/>
          </a:p>
        </p:txBody>
      </p:sp>
      <p:sp>
        <p:nvSpPr>
          <p:cNvPr id="20" name="Text 17"/>
          <p:cNvSpPr/>
          <p:nvPr/>
        </p:nvSpPr>
        <p:spPr>
          <a:xfrm>
            <a:off x="7064871" y="2414234"/>
            <a:ext cx="4256762"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34C58"/>
                </a:solidFill>
                <a:latin typeface="IBM Plex Sans" pitchFamily="34" charset="0"/>
                <a:ea typeface="IBM Plex Sans" pitchFamily="34" charset="-122"/>
                <a:cs typeface="IBM Plex Sans" pitchFamily="34" charset="-120"/>
              </a:rPr>
              <a:t>AUC of a train-vs-test classifier (0.5 = identical). Rows with gaps 4.88% → 13.86%; new devices 9.06% → 15.37%; 90th-pct amount $530 → $1,707. Reweighting for it did not close the gap.</a:t>
            </a:r>
            <a:endParaRPr lang="en-US" sz="1200" dirty="0"/>
          </a:p>
        </p:txBody>
      </p:sp>
      <p:sp>
        <p:nvSpPr>
          <p:cNvPr id="21" name="Shape 18"/>
          <p:cNvSpPr/>
          <p:nvPr/>
        </p:nvSpPr>
        <p:spPr>
          <a:xfrm>
            <a:off x="6886476" y="3574337"/>
            <a:ext cx="4489569" cy="1484551"/>
          </a:xfrm>
          <a:prstGeom prst="roundRect">
            <a:avLst>
              <a:gd name="adj" fmla="val 6630"/>
            </a:avLst>
          </a:prstGeom>
          <a:solidFill>
            <a:srgbClr val="FCFBF7"/>
          </a:solidFill>
          <a:ln w="6350">
            <a:solidFill>
              <a:srgbClr val="DCD5C4"/>
            </a:solidFill>
            <a:prstDash val="solid"/>
          </a:ln>
        </p:spPr>
        <p:txBody>
          <a:bodyPr/>
          <a:lstStyle/>
          <a:p>
            <a:endParaRPr lang="en-SG"/>
          </a:p>
        </p:txBody>
      </p:sp>
      <p:sp>
        <p:nvSpPr>
          <p:cNvPr id="22" name="Text 19"/>
          <p:cNvSpPr/>
          <p:nvPr/>
        </p:nvSpPr>
        <p:spPr>
          <a:xfrm>
            <a:off x="7064871" y="3752732"/>
            <a:ext cx="425676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12C"/>
                </a:solidFill>
                <a:latin typeface="IBM Plex Sans" pitchFamily="34" charset="0"/>
                <a:ea typeface="IBM Plex Sans" pitchFamily="34" charset="-122"/>
                <a:cs typeface="IBM Plex Sans" pitchFamily="34" charset="-120"/>
              </a:rPr>
              <a:t>Tested and closed</a:t>
            </a:r>
            <a:endParaRPr lang="en-US" sz="1500" dirty="0"/>
          </a:p>
        </p:txBody>
      </p:sp>
      <p:sp>
        <p:nvSpPr>
          <p:cNvPr id="23" name="Text 20"/>
          <p:cNvSpPr/>
          <p:nvPr/>
        </p:nvSpPr>
        <p:spPr>
          <a:xfrm>
            <a:off x="7064871" y="4057532"/>
            <a:ext cx="4256762" cy="8483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34C58"/>
                </a:solidFill>
                <a:latin typeface="IBM Plex Sans" pitchFamily="34" charset="0"/>
                <a:ea typeface="IBM Plex Sans" pitchFamily="34" charset="-122"/>
                <a:cs typeface="IBM Plex Sans" pitchFamily="34" charset="-120"/>
              </a:rPr>
              <a:t>Hidden account IDs (P(fraud | group-mate fraud) only 1.9–4.7%), transaction-chain rebuilds (1 vs 1 in a shuffled control), 8 value fingerprints (all CMH p ≥ 0.49), label-shift correction (−0.006).</a:t>
            </a:r>
            <a:endParaRPr lang="en-US" sz="1200" dirty="0"/>
          </a:p>
        </p:txBody>
      </p:sp>
      <p:sp>
        <p:nvSpPr>
          <p:cNvPr id="24" name="Text 21"/>
          <p:cNvSpPr/>
          <p:nvPr/>
        </p:nvSpPr>
        <p:spPr>
          <a:xfrm>
            <a:off x="812780" y="6238286"/>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public_transfer_comparison.csv (11 submissions); adversarial HGB AUC 0.6661; research/claude_*</a:t>
            </a:r>
            <a:endParaRPr lang="en-US" sz="1200" dirty="0"/>
          </a:p>
        </p:txBody>
      </p:sp>
      <p:sp>
        <p:nvSpPr>
          <p:cNvPr id="25" name="Text 22"/>
          <p:cNvSpPr/>
          <p:nvPr/>
        </p:nvSpPr>
        <p:spPr>
          <a:xfrm>
            <a:off x="10566420" y="6238286"/>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4D19"/>
                </a:solidFill>
                <a:latin typeface="IBM Plex Mono" pitchFamily="49" charset="0"/>
                <a:ea typeface="IBM Plex Mono" pitchFamily="49" charset="-122"/>
                <a:cs typeface="IBM Plex Mono" pitchFamily="49" charset="-120"/>
              </a:rPr>
              <a:t>LIMITS AND NEXT STEPS</a:t>
            </a:r>
            <a:endParaRPr lang="en-US" sz="1200" dirty="0"/>
          </a:p>
        </p:txBody>
      </p:sp>
      <p:sp>
        <p:nvSpPr>
          <p:cNvPr id="3" name="Text 1"/>
          <p:cNvSpPr>
            <a:spLocks noGrp="1"/>
          </p:cNvSpPr>
          <p:nvPr>
            <p:ph type="title"/>
          </p:nvPr>
        </p:nvSpPr>
        <p:spPr>
          <a:xfrm>
            <a:off x="812780" y="1102339"/>
            <a:ext cx="1088343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7212C"/>
                </a:solidFill>
                <a:latin typeface="Source Serif 4" pitchFamily="18" charset="0"/>
                <a:ea typeface="Source Serif 4" pitchFamily="18" charset="-122"/>
                <a:cs typeface="Source Serif 4" pitchFamily="18" charset="-120"/>
              </a:rPr>
              <a:t>What would move the needle from here</a:t>
            </a:r>
            <a:endParaRPr lang="en-US" sz="3000" dirty="0"/>
          </a:p>
        </p:txBody>
      </p:sp>
      <p:sp>
        <p:nvSpPr>
          <p:cNvPr id="4" name="Text 2"/>
          <p:cNvSpPr/>
          <p:nvPr/>
        </p:nvSpPr>
        <p:spPr>
          <a:xfrm>
            <a:off x="812780" y="1724620"/>
            <a:ext cx="520625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B44D19"/>
                </a:solidFill>
                <a:latin typeface="IBM Plex Sans" pitchFamily="34" charset="0"/>
                <a:ea typeface="IBM Plex Sans" pitchFamily="34" charset="-122"/>
                <a:cs typeface="IBM Plex Sans" pitchFamily="34" charset="-120"/>
              </a:rPr>
              <a:t>Limitations</a:t>
            </a:r>
            <a:endParaRPr lang="en-US" sz="1700" dirty="0"/>
          </a:p>
        </p:txBody>
      </p:sp>
      <p:sp>
        <p:nvSpPr>
          <p:cNvPr id="5" name="Shape 3"/>
          <p:cNvSpPr/>
          <p:nvPr/>
        </p:nvSpPr>
        <p:spPr>
          <a:xfrm>
            <a:off x="812780" y="2075755"/>
            <a:ext cx="5054620" cy="0"/>
          </a:xfrm>
          <a:prstGeom prst="line">
            <a:avLst/>
          </a:prstGeom>
          <a:noFill/>
          <a:ln w="6350">
            <a:solidFill>
              <a:srgbClr val="DCD5C4"/>
            </a:solidFill>
            <a:prstDash val="solid"/>
          </a:ln>
        </p:spPr>
        <p:txBody>
          <a:bodyPr/>
          <a:lstStyle/>
          <a:p>
            <a:endParaRPr lang="en-SG"/>
          </a:p>
        </p:txBody>
      </p:sp>
      <p:sp>
        <p:nvSpPr>
          <p:cNvPr id="6" name="Text 4"/>
          <p:cNvSpPr/>
          <p:nvPr/>
        </p:nvSpPr>
        <p:spPr>
          <a:xfrm>
            <a:off x="812780" y="2165269"/>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No customer history</a:t>
            </a:r>
            <a:endParaRPr lang="en-US" sz="1400" dirty="0"/>
          </a:p>
        </p:txBody>
      </p:sp>
      <p:sp>
        <p:nvSpPr>
          <p:cNvPr id="7" name="Text 5"/>
          <p:cNvSpPr/>
          <p:nvPr/>
        </p:nvSpPr>
        <p:spPr>
          <a:xfrm>
            <a:off x="812780" y="2403990"/>
            <a:ext cx="5206259"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No customer ID or timestamp; per-card history drives the field's biggest gains (Wedge 2017: −54% false positives).</a:t>
            </a:r>
            <a:endParaRPr lang="en-US" sz="1300" dirty="0"/>
          </a:p>
        </p:txBody>
      </p:sp>
      <p:sp>
        <p:nvSpPr>
          <p:cNvPr id="8" name="Shape 6"/>
          <p:cNvSpPr/>
          <p:nvPr/>
        </p:nvSpPr>
        <p:spPr>
          <a:xfrm>
            <a:off x="812780" y="2941693"/>
            <a:ext cx="5054620" cy="0"/>
          </a:xfrm>
          <a:prstGeom prst="line">
            <a:avLst/>
          </a:prstGeom>
          <a:noFill/>
          <a:ln w="6350">
            <a:solidFill>
              <a:srgbClr val="DCD5C4"/>
            </a:solidFill>
            <a:prstDash val="solid"/>
          </a:ln>
        </p:spPr>
        <p:txBody>
          <a:bodyPr/>
          <a:lstStyle/>
          <a:p>
            <a:endParaRPr lang="en-SG"/>
          </a:p>
        </p:txBody>
      </p:sp>
      <p:sp>
        <p:nvSpPr>
          <p:cNvPr id="9" name="Text 7"/>
          <p:cNvSpPr/>
          <p:nvPr/>
        </p:nvSpPr>
        <p:spPr>
          <a:xfrm>
            <a:off x="812780" y="3031207"/>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Few positives</a:t>
            </a:r>
            <a:endParaRPr lang="en-US" sz="1400" dirty="0"/>
          </a:p>
        </p:txBody>
      </p:sp>
      <p:sp>
        <p:nvSpPr>
          <p:cNvPr id="10" name="Text 8"/>
          <p:cNvSpPr/>
          <p:nvPr/>
        </p:nvSpPr>
        <p:spPr>
          <a:xfrm>
            <a:off x="812780" y="3269928"/>
            <a:ext cx="5206259"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353 frauds: folds are noisy and labels were reused across many experiments.</a:t>
            </a:r>
            <a:endParaRPr lang="en-US" sz="1300" dirty="0"/>
          </a:p>
        </p:txBody>
      </p:sp>
      <p:sp>
        <p:nvSpPr>
          <p:cNvPr id="11" name="Shape 9"/>
          <p:cNvSpPr/>
          <p:nvPr/>
        </p:nvSpPr>
        <p:spPr>
          <a:xfrm>
            <a:off x="812780" y="3807637"/>
            <a:ext cx="5054620" cy="0"/>
          </a:xfrm>
          <a:prstGeom prst="line">
            <a:avLst/>
          </a:prstGeom>
          <a:noFill/>
          <a:ln w="6350">
            <a:solidFill>
              <a:srgbClr val="DCD5C4"/>
            </a:solidFill>
            <a:prstDash val="solid"/>
          </a:ln>
        </p:spPr>
        <p:txBody>
          <a:bodyPr/>
          <a:lstStyle/>
          <a:p>
            <a:endParaRPr lang="en-SG"/>
          </a:p>
        </p:txBody>
      </p:sp>
      <p:sp>
        <p:nvSpPr>
          <p:cNvPr id="12" name="Text 10"/>
          <p:cNvSpPr/>
          <p:nvPr/>
        </p:nvSpPr>
        <p:spPr>
          <a:xfrm>
            <a:off x="812780" y="3897151"/>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Shifted test set</a:t>
            </a:r>
            <a:endParaRPr lang="en-US" sz="1400" dirty="0"/>
          </a:p>
        </p:txBody>
      </p:sp>
      <p:sp>
        <p:nvSpPr>
          <p:cNvPr id="13" name="Text 11"/>
          <p:cNvSpPr/>
          <p:nvPr/>
        </p:nvSpPr>
        <p:spPr>
          <a:xfrm>
            <a:off x="812780" y="4135872"/>
            <a:ext cx="5206259"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Adversarial AUC 0.67; local gains did not always transfer (CV ≈ 0.24, public ≈ 0.19).</a:t>
            </a:r>
            <a:endParaRPr lang="en-US" sz="1300" dirty="0"/>
          </a:p>
        </p:txBody>
      </p:sp>
      <p:sp>
        <p:nvSpPr>
          <p:cNvPr id="14" name="Shape 12"/>
          <p:cNvSpPr/>
          <p:nvPr/>
        </p:nvSpPr>
        <p:spPr>
          <a:xfrm>
            <a:off x="812780" y="4673575"/>
            <a:ext cx="5054620" cy="0"/>
          </a:xfrm>
          <a:prstGeom prst="line">
            <a:avLst/>
          </a:prstGeom>
          <a:noFill/>
          <a:ln w="6350">
            <a:solidFill>
              <a:srgbClr val="DCD5C4"/>
            </a:solidFill>
            <a:prstDash val="solid"/>
          </a:ln>
        </p:spPr>
        <p:txBody>
          <a:bodyPr/>
          <a:lstStyle/>
          <a:p>
            <a:endParaRPr lang="en-SG"/>
          </a:p>
        </p:txBody>
      </p:sp>
      <p:sp>
        <p:nvSpPr>
          <p:cNvPr id="15" name="Text 13"/>
          <p:cNvSpPr/>
          <p:nvPr/>
        </p:nvSpPr>
        <p:spPr>
          <a:xfrm>
            <a:off x="812780" y="4763095"/>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Fraud drifts</a:t>
            </a:r>
            <a:endParaRPr lang="en-US" sz="1400" dirty="0"/>
          </a:p>
        </p:txBody>
      </p:sp>
      <p:sp>
        <p:nvSpPr>
          <p:cNvPr id="16" name="Text 14"/>
          <p:cNvSpPr/>
          <p:nvPr/>
        </p:nvSpPr>
        <p:spPr>
          <a:xfrm>
            <a:off x="812780" y="5001816"/>
            <a:ext cx="5206259"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Patterns change and labels arrive late; model and cut-off need monitoring.</a:t>
            </a:r>
            <a:endParaRPr lang="en-US" sz="1300" dirty="0"/>
          </a:p>
        </p:txBody>
      </p:sp>
      <p:sp>
        <p:nvSpPr>
          <p:cNvPr id="17" name="Text 15"/>
          <p:cNvSpPr/>
          <p:nvPr/>
        </p:nvSpPr>
        <p:spPr>
          <a:xfrm>
            <a:off x="6324600" y="1724620"/>
            <a:ext cx="5206259"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E5E8C"/>
                </a:solidFill>
                <a:latin typeface="IBM Plex Sans" pitchFamily="34" charset="0"/>
                <a:ea typeface="IBM Plex Sans" pitchFamily="34" charset="-122"/>
                <a:cs typeface="IBM Plex Sans" pitchFamily="34" charset="-120"/>
              </a:rPr>
              <a:t>What we would do next</a:t>
            </a:r>
            <a:endParaRPr lang="en-US" sz="1700" dirty="0"/>
          </a:p>
        </p:txBody>
      </p:sp>
      <p:sp>
        <p:nvSpPr>
          <p:cNvPr id="18" name="Shape 16"/>
          <p:cNvSpPr/>
          <p:nvPr/>
        </p:nvSpPr>
        <p:spPr>
          <a:xfrm>
            <a:off x="6324600" y="2075755"/>
            <a:ext cx="5054620" cy="0"/>
          </a:xfrm>
          <a:prstGeom prst="line">
            <a:avLst/>
          </a:prstGeom>
          <a:noFill/>
          <a:ln w="6350">
            <a:solidFill>
              <a:srgbClr val="DCD5C4"/>
            </a:solidFill>
            <a:prstDash val="solid"/>
          </a:ln>
        </p:spPr>
        <p:txBody>
          <a:bodyPr/>
          <a:lstStyle/>
          <a:p>
            <a:endParaRPr lang="en-SG"/>
          </a:p>
        </p:txBody>
      </p:sp>
      <p:sp>
        <p:nvSpPr>
          <p:cNvPr id="19" name="Text 17"/>
          <p:cNvSpPr/>
          <p:nvPr/>
        </p:nvSpPr>
        <p:spPr>
          <a:xfrm>
            <a:off x="6324600" y="2165269"/>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Add per-customer history</a:t>
            </a:r>
            <a:endParaRPr lang="en-US" sz="1400" dirty="0"/>
          </a:p>
        </p:txBody>
      </p:sp>
      <p:sp>
        <p:nvSpPr>
          <p:cNvPr id="20" name="Text 18"/>
          <p:cNvSpPr/>
          <p:nvPr/>
        </p:nvSpPr>
        <p:spPr>
          <a:xfrm>
            <a:off x="6324600" y="2403990"/>
            <a:ext cx="5206259" cy="2482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Customer ID + real timestamps → rolling behaviour features.</a:t>
            </a:r>
            <a:endParaRPr lang="en-US" sz="1300" dirty="0"/>
          </a:p>
        </p:txBody>
      </p:sp>
      <p:sp>
        <p:nvSpPr>
          <p:cNvPr id="21" name="Shape 19"/>
          <p:cNvSpPr/>
          <p:nvPr/>
        </p:nvSpPr>
        <p:spPr>
          <a:xfrm>
            <a:off x="6324600" y="2718867"/>
            <a:ext cx="5054620" cy="0"/>
          </a:xfrm>
          <a:prstGeom prst="line">
            <a:avLst/>
          </a:prstGeom>
          <a:noFill/>
          <a:ln w="6350">
            <a:solidFill>
              <a:srgbClr val="DCD5C4"/>
            </a:solidFill>
            <a:prstDash val="solid"/>
          </a:ln>
        </p:spPr>
        <p:txBody>
          <a:bodyPr/>
          <a:lstStyle/>
          <a:p>
            <a:endParaRPr lang="en-SG"/>
          </a:p>
        </p:txBody>
      </p:sp>
      <p:sp>
        <p:nvSpPr>
          <p:cNvPr id="22" name="Text 20"/>
          <p:cNvSpPr/>
          <p:nvPr/>
        </p:nvSpPr>
        <p:spPr>
          <a:xfrm>
            <a:off x="6324600" y="2808387"/>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Device intelligence</a:t>
            </a:r>
            <a:endParaRPr lang="en-US" sz="1400" dirty="0"/>
          </a:p>
        </p:txBody>
      </p:sp>
      <p:sp>
        <p:nvSpPr>
          <p:cNvPr id="23" name="Text 21"/>
          <p:cNvSpPr/>
          <p:nvPr/>
        </p:nvSpPr>
        <p:spPr>
          <a:xfrm>
            <a:off x="6324600" y="3047107"/>
            <a:ext cx="5206259" cy="2482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Fingerprints for the known-device fraud we miss today.</a:t>
            </a:r>
            <a:endParaRPr lang="en-US" sz="1300" dirty="0"/>
          </a:p>
        </p:txBody>
      </p:sp>
      <p:sp>
        <p:nvSpPr>
          <p:cNvPr id="24" name="Shape 22"/>
          <p:cNvSpPr/>
          <p:nvPr/>
        </p:nvSpPr>
        <p:spPr>
          <a:xfrm>
            <a:off x="6324600" y="3361984"/>
            <a:ext cx="5054620" cy="0"/>
          </a:xfrm>
          <a:prstGeom prst="line">
            <a:avLst/>
          </a:prstGeom>
          <a:noFill/>
          <a:ln w="6350">
            <a:solidFill>
              <a:srgbClr val="DCD5C4"/>
            </a:solidFill>
            <a:prstDash val="solid"/>
          </a:ln>
        </p:spPr>
        <p:txBody>
          <a:bodyPr/>
          <a:lstStyle/>
          <a:p>
            <a:endParaRPr lang="en-SG"/>
          </a:p>
        </p:txBody>
      </p:sp>
      <p:sp>
        <p:nvSpPr>
          <p:cNvPr id="25" name="Text 23"/>
          <p:cNvSpPr/>
          <p:nvPr/>
        </p:nvSpPr>
        <p:spPr>
          <a:xfrm>
            <a:off x="6324600" y="3451498"/>
            <a:ext cx="520625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12C"/>
                </a:solidFill>
                <a:latin typeface="IBM Plex Sans" pitchFamily="34" charset="0"/>
                <a:ea typeface="IBM Plex Sans" pitchFamily="34" charset="-122"/>
                <a:cs typeface="IBM Plex Sans" pitchFamily="34" charset="-120"/>
              </a:rPr>
              <a:t>Monitor and retrain</a:t>
            </a:r>
            <a:endParaRPr lang="en-US" sz="1400" dirty="0"/>
          </a:p>
        </p:txBody>
      </p:sp>
      <p:sp>
        <p:nvSpPr>
          <p:cNvPr id="26" name="Text 24"/>
          <p:cNvSpPr/>
          <p:nvPr/>
        </p:nvSpPr>
        <p:spPr>
          <a:xfrm>
            <a:off x="6324600" y="3690218"/>
            <a:ext cx="5206259"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34C58"/>
                </a:solidFill>
                <a:latin typeface="IBM Plex Sans" pitchFamily="34" charset="0"/>
                <a:ea typeface="IBM Plex Sans" pitchFamily="34" charset="-122"/>
                <a:cs typeface="IBM Plex Sans" pitchFamily="34" charset="-120"/>
              </a:rPr>
              <a:t>Track score drift and alert rate; re-pick the cut-off against review capacity.</a:t>
            </a:r>
            <a:endParaRPr lang="en-US" sz="1300" dirty="0"/>
          </a:p>
        </p:txBody>
      </p:sp>
      <p:sp>
        <p:nvSpPr>
          <p:cNvPr id="27" name="Text 25"/>
          <p:cNvSpPr/>
          <p:nvPr/>
        </p:nvSpPr>
        <p:spPr>
          <a:xfrm>
            <a:off x="812780" y="6238280"/>
            <a:ext cx="9679899" cy="23876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B44D19"/>
                </a:solidFill>
                <a:latin typeface="IBM Plex Mono" pitchFamily="49" charset="0"/>
                <a:ea typeface="IBM Plex Mono" pitchFamily="49" charset="-122"/>
                <a:cs typeface="IBM Plex Mono" pitchFamily="49" charset="-120"/>
              </a:rPr>
              <a:t>EVIDENCE</a:t>
            </a:r>
            <a:r>
              <a:rPr lang="en-US" sz="1200" dirty="0">
                <a:solidFill>
                  <a:srgbClr val="5A626D"/>
                </a:solidFill>
                <a:latin typeface="IBM Plex Mono" pitchFamily="49" charset="0"/>
                <a:ea typeface="IBM Plex Mono" pitchFamily="49" charset="-122"/>
                <a:cs typeface="IBM Plex Mono" pitchFamily="49" charset="-120"/>
              </a:rPr>
              <a:t> docs/ANALYSIS_REPORT.md §4 literature review; Wedge et al. 2017, arXiv:1710.07709</a:t>
            </a:r>
            <a:endParaRPr lang="en-US" sz="1200" dirty="0"/>
          </a:p>
        </p:txBody>
      </p:sp>
      <p:sp>
        <p:nvSpPr>
          <p:cNvPr id="28" name="Text 26"/>
          <p:cNvSpPr/>
          <p:nvPr/>
        </p:nvSpPr>
        <p:spPr>
          <a:xfrm>
            <a:off x="10566420" y="6238280"/>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26D"/>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44D19"/>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56500"/>
          </a:xfrm>
          <a:prstGeom prst="rect">
            <a:avLst/>
          </a:prstGeom>
          <a:noFill/>
          <a:ln/>
        </p:spPr>
        <p:txBody>
          <a:bodyPr wrap="square" lIns="0" tIns="0" rIns="0" bIns="0" rtlCol="0" anchor="t">
            <a:normAutofit/>
          </a:bodyPr>
          <a:lstStyle/>
          <a:p>
            <a:pPr marL="0" indent="0" algn="l">
              <a:lnSpc>
                <a:spcPts val="1820"/>
              </a:lnSpc>
              <a:buNone/>
            </a:pPr>
            <a:r>
              <a:rPr lang="en-US" sz="1300" kern="0" spc="150" dirty="0">
                <a:solidFill>
                  <a:srgbClr val="FBE3D3"/>
                </a:solidFill>
                <a:latin typeface="IBM Plex Mono" pitchFamily="49" charset="0"/>
                <a:ea typeface="IBM Plex Mono" pitchFamily="49" charset="-122"/>
                <a:cs typeface="IBM Plex Mono" pitchFamily="49" charset="-120"/>
              </a:rPr>
              <a:t>THREE THINGS TO REMEMBER</a:t>
            </a:r>
            <a:endParaRPr lang="en-US" sz="1300" dirty="0"/>
          </a:p>
        </p:txBody>
      </p:sp>
      <p:sp>
        <p:nvSpPr>
          <p:cNvPr id="3" name="Text 1"/>
          <p:cNvSpPr>
            <a:spLocks noGrp="1"/>
          </p:cNvSpPr>
          <p:nvPr>
            <p:ph type="title"/>
          </p:nvPr>
        </p:nvSpPr>
        <p:spPr>
          <a:xfrm>
            <a:off x="812780" y="1145437"/>
            <a:ext cx="10883434"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FF8F2"/>
                </a:solidFill>
                <a:latin typeface="Source Serif 4" pitchFamily="18" charset="0"/>
                <a:ea typeface="Source Serif 4" pitchFamily="18" charset="-122"/>
                <a:cs typeface="Source Serif 4" pitchFamily="18" charset="-120"/>
              </a:rPr>
              <a:t>Thank you. Questions?</a:t>
            </a:r>
            <a:endParaRPr lang="en-US" sz="4800" dirty="0"/>
          </a:p>
        </p:txBody>
      </p:sp>
      <p:sp>
        <p:nvSpPr>
          <p:cNvPr id="4" name="Shape 2"/>
          <p:cNvSpPr/>
          <p:nvPr/>
        </p:nvSpPr>
        <p:spPr>
          <a:xfrm>
            <a:off x="812780" y="2795941"/>
            <a:ext cx="3386674" cy="1989951"/>
          </a:xfrm>
          <a:prstGeom prst="roundRect">
            <a:avLst>
              <a:gd name="adj" fmla="val 5106"/>
            </a:avLst>
          </a:prstGeom>
          <a:solidFill>
            <a:srgbClr val="9A4214"/>
          </a:solidFill>
          <a:ln/>
        </p:spPr>
        <p:txBody>
          <a:bodyPr/>
          <a:lstStyle/>
          <a:p>
            <a:endParaRPr lang="en-SG"/>
          </a:p>
        </p:txBody>
      </p:sp>
      <p:sp>
        <p:nvSpPr>
          <p:cNvPr id="5" name="Text 3"/>
          <p:cNvSpPr/>
          <p:nvPr/>
        </p:nvSpPr>
        <p:spPr>
          <a:xfrm>
            <a:off x="1066741" y="3049904"/>
            <a:ext cx="2965115"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E3D3"/>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1066741" y="3387682"/>
            <a:ext cx="3132713"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FFF8F2"/>
                </a:solidFill>
                <a:latin typeface="Source Serif 4" pitchFamily="18" charset="0"/>
                <a:ea typeface="Source Serif 4" pitchFamily="18" charset="-122"/>
                <a:cs typeface="Source Serif 4" pitchFamily="18" charset="-120"/>
              </a:rPr>
              <a:t>Rank, don't classify</a:t>
            </a:r>
            <a:endParaRPr lang="en-US" sz="2400" dirty="0"/>
          </a:p>
        </p:txBody>
      </p:sp>
      <p:sp>
        <p:nvSpPr>
          <p:cNvPr id="7" name="Text 5"/>
          <p:cNvSpPr/>
          <p:nvPr/>
        </p:nvSpPr>
        <p:spPr>
          <a:xfrm>
            <a:off x="1066741" y="3811842"/>
            <a:ext cx="2965115"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1E6"/>
                </a:solidFill>
                <a:latin typeface="IBM Plex Sans" pitchFamily="34" charset="0"/>
                <a:ea typeface="IBM Plex Sans" pitchFamily="34" charset="-122"/>
                <a:cs typeface="IBM Plex Sans" pitchFamily="34" charset="-120"/>
              </a:rPr>
              <a:t>98% accuracy is free; we optimised PR-AUC and reached 0.2365, 13× random.</a:t>
            </a:r>
            <a:endParaRPr lang="en-US" sz="1400" dirty="0"/>
          </a:p>
        </p:txBody>
      </p:sp>
      <p:sp>
        <p:nvSpPr>
          <p:cNvPr id="8" name="Shape 6"/>
          <p:cNvSpPr/>
          <p:nvPr/>
        </p:nvSpPr>
        <p:spPr>
          <a:xfrm>
            <a:off x="4402634" y="2795941"/>
            <a:ext cx="3386733" cy="1989951"/>
          </a:xfrm>
          <a:prstGeom prst="roundRect">
            <a:avLst>
              <a:gd name="adj" fmla="val 5106"/>
            </a:avLst>
          </a:prstGeom>
          <a:solidFill>
            <a:srgbClr val="9A4214"/>
          </a:solidFill>
          <a:ln/>
        </p:spPr>
        <p:txBody>
          <a:bodyPr/>
          <a:lstStyle/>
          <a:p>
            <a:endParaRPr lang="en-SG"/>
          </a:p>
        </p:txBody>
      </p:sp>
      <p:sp>
        <p:nvSpPr>
          <p:cNvPr id="9" name="Text 7"/>
          <p:cNvSpPr/>
          <p:nvPr/>
        </p:nvSpPr>
        <p:spPr>
          <a:xfrm>
            <a:off x="4656594" y="3049904"/>
            <a:ext cx="2965177"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E3D3"/>
                </a:solidFill>
                <a:latin typeface="IBM Plex Mono" pitchFamily="49" charset="0"/>
                <a:ea typeface="IBM Plex Mono" pitchFamily="49" charset="-122"/>
                <a:cs typeface="IBM Plex Mono" pitchFamily="49" charset="-120"/>
              </a:rPr>
              <a:t>02</a:t>
            </a:r>
            <a:endParaRPr lang="en-US" sz="1400" dirty="0"/>
          </a:p>
        </p:txBody>
      </p:sp>
      <p:sp>
        <p:nvSpPr>
          <p:cNvPr id="10" name="Text 8"/>
          <p:cNvSpPr/>
          <p:nvPr/>
        </p:nvSpPr>
        <p:spPr>
          <a:xfrm>
            <a:off x="4656594" y="3387682"/>
            <a:ext cx="2965177"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FFF8F2"/>
                </a:solidFill>
                <a:latin typeface="Source Serif 4" pitchFamily="18" charset="0"/>
                <a:ea typeface="Source Serif 4" pitchFamily="18" charset="-122"/>
                <a:cs typeface="Source Serif 4" pitchFamily="18" charset="-120"/>
              </a:rPr>
              <a:t>Risks stack</a:t>
            </a:r>
            <a:endParaRPr lang="en-US" sz="2400" dirty="0"/>
          </a:p>
        </p:txBody>
      </p:sp>
      <p:sp>
        <p:nvSpPr>
          <p:cNvPr id="11" name="Text 9"/>
          <p:cNvSpPr/>
          <p:nvPr/>
        </p:nvSpPr>
        <p:spPr>
          <a:xfrm>
            <a:off x="4656594" y="3811842"/>
            <a:ext cx="2965177"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1E6"/>
                </a:solidFill>
                <a:latin typeface="IBM Plex Sans" pitchFamily="34" charset="0"/>
                <a:ea typeface="IBM Plex Sans" pitchFamily="34" charset="-122"/>
                <a:cs typeface="IBM Plex Sans" pitchFamily="34" charset="-120"/>
              </a:rPr>
              <a:t>New device × young account is 18.4% fraud, twice what the parts predict; five crosses capture it.</a:t>
            </a:r>
            <a:endParaRPr lang="en-US" sz="1400" dirty="0"/>
          </a:p>
        </p:txBody>
      </p:sp>
      <p:sp>
        <p:nvSpPr>
          <p:cNvPr id="12" name="Shape 10"/>
          <p:cNvSpPr/>
          <p:nvPr/>
        </p:nvSpPr>
        <p:spPr>
          <a:xfrm>
            <a:off x="7992547" y="2795941"/>
            <a:ext cx="3386674" cy="1989951"/>
          </a:xfrm>
          <a:prstGeom prst="roundRect">
            <a:avLst>
              <a:gd name="adj" fmla="val 5106"/>
            </a:avLst>
          </a:prstGeom>
          <a:solidFill>
            <a:srgbClr val="9A4214"/>
          </a:solidFill>
          <a:ln/>
        </p:spPr>
        <p:txBody>
          <a:bodyPr/>
          <a:lstStyle/>
          <a:p>
            <a:endParaRPr lang="en-SG"/>
          </a:p>
        </p:txBody>
      </p:sp>
      <p:sp>
        <p:nvSpPr>
          <p:cNvPr id="13" name="Text 11"/>
          <p:cNvSpPr/>
          <p:nvPr/>
        </p:nvSpPr>
        <p:spPr>
          <a:xfrm>
            <a:off x="8246507" y="3049904"/>
            <a:ext cx="2965115"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BE3D3"/>
                </a:solidFill>
                <a:latin typeface="IBM Plex Mono" pitchFamily="49" charset="0"/>
                <a:ea typeface="IBM Plex Mono" pitchFamily="49" charset="-122"/>
                <a:cs typeface="IBM Plex Mono" pitchFamily="49" charset="-120"/>
              </a:rPr>
              <a:t>03</a:t>
            </a:r>
            <a:endParaRPr lang="en-US" sz="1400" dirty="0"/>
          </a:p>
        </p:txBody>
      </p:sp>
      <p:sp>
        <p:nvSpPr>
          <p:cNvPr id="14" name="Text 12"/>
          <p:cNvSpPr/>
          <p:nvPr/>
        </p:nvSpPr>
        <p:spPr>
          <a:xfrm>
            <a:off x="8246507" y="3387682"/>
            <a:ext cx="2965115" cy="360680"/>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FFF8F2"/>
                </a:solidFill>
                <a:latin typeface="Source Serif 4" pitchFamily="18" charset="0"/>
                <a:ea typeface="Source Serif 4" pitchFamily="18" charset="-122"/>
                <a:cs typeface="Source Serif 4" pitchFamily="18" charset="-120"/>
              </a:rPr>
              <a:t>Honest by design</a:t>
            </a:r>
            <a:endParaRPr lang="en-US" sz="2400" dirty="0"/>
          </a:p>
        </p:txBody>
      </p:sp>
      <p:sp>
        <p:nvSpPr>
          <p:cNvPr id="15" name="Text 13"/>
          <p:cNvSpPr/>
          <p:nvPr/>
        </p:nvSpPr>
        <p:spPr>
          <a:xfrm>
            <a:off x="8246507" y="3811842"/>
            <a:ext cx="2965115"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FF1E6"/>
                </a:solidFill>
                <a:latin typeface="IBM Plex Sans" pitchFamily="34" charset="0"/>
                <a:ea typeface="IBM Plex Sans" pitchFamily="34" charset="-122"/>
                <a:cs typeface="IBM Plex Sans" pitchFamily="34" charset="-120"/>
              </a:rPr>
              <a:t>Rules before results, everything fitted in-fold, exact replay, and the failures on file.</a:t>
            </a:r>
            <a:endParaRPr lang="en-US" sz="1400" dirty="0"/>
          </a:p>
        </p:txBody>
      </p:sp>
      <p:sp>
        <p:nvSpPr>
          <p:cNvPr id="16" name="Text 14"/>
          <p:cNvSpPr/>
          <p:nvPr/>
        </p:nvSpPr>
        <p:spPr>
          <a:xfrm>
            <a:off x="812780" y="5796316"/>
            <a:ext cx="10883434"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1E6"/>
                </a:solidFill>
                <a:latin typeface="IBM Plex Sans" pitchFamily="34" charset="0"/>
                <a:ea typeface="IBM Plex Sans" pitchFamily="34" charset="-122"/>
                <a:cs typeface="IBM Plex Sans" pitchFamily="34" charset="-120"/>
              </a:rPr>
              <a:t>Team AI of Spades · TrustGuard · DLW Datathon 2026 Track 2</a:t>
            </a:r>
            <a:endParaRPr lang="en-US" sz="1400" dirty="0"/>
          </a:p>
        </p:txBody>
      </p:sp>
    </p:spTree>
  </p:cSld>
  <p:clrMapOvr>
    <a:masterClrMapping/>
  </p:clrMapOvr>
</p:sld>
</file>

<file path=ppt/theme/theme1.xml><?xml version="1.0" encoding="utf-8"?>
<a:theme xmlns:a="http://schemas.openxmlformats.org/drawingml/2006/main" name="TrustGuard — DLW Datathon 2026 Finals">
  <a:themeElements>
    <a:clrScheme name="TrustGuard — DLW Datathon 2026 Finals">
      <a:dk1>
        <a:srgbClr val="17212C"/>
      </a:dk1>
      <a:lt1>
        <a:srgbClr val="F5F2EA"/>
      </a:lt1>
      <a:dk2>
        <a:srgbClr val="4F555C"/>
      </a:dk2>
      <a:lt2>
        <a:srgbClr val="DFDDD7"/>
      </a:lt2>
      <a:accent1>
        <a:srgbClr val="B44D19"/>
      </a:accent1>
      <a:accent2>
        <a:srgbClr val="F08A4B"/>
      </a:accent2>
      <a:accent3>
        <a:srgbClr val="D98B5F"/>
      </a:accent3>
      <a:accent4>
        <a:srgbClr val="2E5E8C"/>
      </a:accent4>
      <a:accent5>
        <a:srgbClr val="9A4214"/>
      </a:accent5>
      <a:accent6>
        <a:srgbClr val="3A5068"/>
      </a:accent6>
      <a:hlink>
        <a:srgbClr val="0563C1"/>
      </a:hlink>
      <a:folHlink>
        <a:srgbClr val="954F72"/>
      </a:folHlink>
    </a:clrScheme>
    <a:fontScheme name="TrustGuard — DLW Datathon 2026 Final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3849</Words>
  <Application>Microsoft Office PowerPoint</Application>
  <PresentationFormat>Widescreen</PresentationFormat>
  <Paragraphs>397</Paragraphs>
  <Slides>14</Slides>
  <Notes>14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IBM Plex Mono</vt:lpstr>
      <vt:lpstr>IBM Plex Sans</vt:lpstr>
      <vt:lpstr>Source Serif 4</vt:lpstr>
      <vt:lpstr>TrustGuard — DLW Datathon 2026 Finals</vt:lpstr>
      <vt:lpstr>TrustGuard</vt:lpstr>
      <vt:lpstr>Only 1.77% of transactions are fraud</vt:lpstr>
      <vt:lpstr>From raw transactions to a risk score</vt:lpstr>
      <vt:lpstr>Small, clean, and missing the one thing fraud teams rely on</vt:lpstr>
      <vt:lpstr>Risks stack, and one corner is worse than predicted</vt:lpstr>
      <vt:lpstr>Bursts, night hours and merchant context add the rest</vt:lpstr>
      <vt:lpstr>We tested 14 feature ideas; one clearly paid off</vt:lpstr>
      <vt:lpstr>Three models, one score</vt:lpstr>
      <vt:lpstr>The top of the list is where the value is</vt:lpstr>
      <vt:lpstr>Choosing a cut-off is a business decision</vt:lpstr>
      <vt:lpstr>We catch the obvious fraud and miss the quiet kind</vt:lpstr>
      <vt:lpstr>A noisy leaderboard and a shifted test set</vt:lpstr>
      <vt:lpstr>What would move the needle from here</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TrustGuard — DLW Datathon 2026 Finals</dc:title>
  <dc:subject/>
  <dc:creator/>
  <cp:lastModifiedBy>#ATTILI KIREETI ADITYA KUMAR#</cp:lastModifiedBy>
  <cp:revision>2</cp:revision>
  <dcterms:created xsi:type="dcterms:W3CDTF">2026-10-04T08:18:06Z</dcterms:created>
  <dcterms:modified xsi:type="dcterms:W3CDTF">2026-10-04T09:33:38Z</dcterms:modified>
</cp:coreProperties>
</file>